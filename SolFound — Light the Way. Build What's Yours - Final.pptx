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6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2703"/>
    <a:srgbClr val="FCBB8E"/>
    <a:srgbClr val="F97316"/>
    <a:srgbClr val="B34B05"/>
    <a:srgbClr val="FBBF7A"/>
    <a:srgbClr val="000000"/>
    <a:srgbClr val="EB7E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7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71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C245-86D0-227F-FB04-2235FBF0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AFBCB-C0E8-557D-70A7-DEEFB7AEA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7916C-5557-BD9F-6E1D-484F1D89E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F1ACE-57FB-2D98-E93A-C76C032A8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545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BBF7A">
                    <a:alpha val="75000"/>
                  </a:srgb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A  PLATFORM  FOR  THE  SOVEREIGN  BUILDER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1371600"/>
          </a:xfrm>
          <a:prstGeom prst="rect">
            <a:avLst/>
          </a:prstGeom>
          <a:noFill/>
          <a:ln/>
          <a:effectLst>
            <a:outerShdw blurRad="508000" dist="50800" dir="16200000" algn="bl" rotWithShape="0">
              <a:srgbClr val="F97316">
                <a:alpha val="7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Sol</a:t>
            </a: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BBF7A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Found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0" y="3127248"/>
            <a:ext cx="2743200" cy="0"/>
          </a:xfrm>
          <a:prstGeom prst="line">
            <a:avLst/>
          </a:prstGeom>
          <a:noFill/>
          <a:ln w="9525">
            <a:solidFill>
              <a:srgbClr val="F97316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7071" y="3191257"/>
            <a:ext cx="8229600" cy="548640"/>
          </a:xfrm>
          <a:prstGeom prst="rect">
            <a:avLst/>
          </a:prstGeom>
          <a:noFill/>
          <a:ln/>
          <a:effectLst>
            <a:outerShdw blurRad="254000" dist="50800" dir="16200000" algn="bl" rotWithShape="0">
              <a:srgbClr val="F97316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BBF7A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Light the way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   ·  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BBF7A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Build what's yours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0" y="4754880"/>
            <a:ext cx="640080" cy="0"/>
          </a:xfrm>
          <a:prstGeom prst="line">
            <a:avLst/>
          </a:prstGeom>
          <a:noFill/>
          <a:ln w="6350">
            <a:solidFill>
              <a:srgbClr val="FBBF7A">
                <a:alpha val="2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0" y="4645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BBF7A">
                    <a:alpha val="40000"/>
                  </a:srgb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S O L F O U N 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60720" y="4754880"/>
            <a:ext cx="640080" cy="0"/>
          </a:xfrm>
          <a:prstGeom prst="line">
            <a:avLst/>
          </a:prstGeom>
          <a:noFill/>
          <a:ln w="6350">
            <a:solidFill>
              <a:srgbClr val="FBBF7A">
                <a:alpha val="2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B657773-5BC4-05FB-28B1-D2ADCB9F0D5B}"/>
              </a:ext>
            </a:extLst>
          </p:cNvPr>
          <p:cNvSpPr/>
          <p:nvPr/>
        </p:nvSpPr>
        <p:spPr>
          <a:xfrm>
            <a:off x="0" y="3285530"/>
            <a:ext cx="9144000" cy="185797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45000">
                <a:srgbClr val="B43C00">
                  <a:alpha val="10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t1"/>
          <p:cNvSpPr/>
          <p:nvPr/>
        </p:nvSpPr>
        <p:spPr>
          <a:xfrm>
            <a:off x="274320" y="457200"/>
            <a:ext cx="91440" cy="91440"/>
          </a:xfrm>
          <a:prstGeom prst="ellipse">
            <a:avLst/>
          </a:prstGeom>
          <a:solidFill>
            <a:srgbClr val="F97316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2"/>
          <p:cNvSpPr/>
          <p:nvPr/>
        </p:nvSpPr>
        <p:spPr>
          <a:xfrm>
            <a:off x="548640" y="182880"/>
            <a:ext cx="54864" cy="54864"/>
          </a:xfrm>
          <a:prstGeom prst="ellipse">
            <a:avLst/>
          </a:prstGeom>
          <a:solidFill>
            <a:srgbClr val="FBBF7A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ot3"/>
          <p:cNvSpPr/>
          <p:nvPr/>
        </p:nvSpPr>
        <p:spPr>
          <a:xfrm>
            <a:off x="137160" y="914400"/>
            <a:ext cx="73152" cy="73152"/>
          </a:xfrm>
          <a:prstGeom prst="ellipse">
            <a:avLst/>
          </a:prstGeom>
          <a:solidFill>
            <a:srgbClr val="F97316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ot4"/>
          <p:cNvSpPr/>
          <p:nvPr/>
        </p:nvSpPr>
        <p:spPr>
          <a:xfrm>
            <a:off x="8595360" y="274320"/>
            <a:ext cx="109728" cy="109728"/>
          </a:xfrm>
          <a:prstGeom prst="ellipse">
            <a:avLst/>
          </a:prstGeom>
          <a:solidFill>
            <a:srgbClr val="FBBF7A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Dot5"/>
          <p:cNvSpPr/>
          <p:nvPr/>
        </p:nvSpPr>
        <p:spPr>
          <a:xfrm>
            <a:off x="8869680" y="640080"/>
            <a:ext cx="45720" cy="45720"/>
          </a:xfrm>
          <a:prstGeom prst="ellipse">
            <a:avLst/>
          </a:prstGeom>
          <a:solidFill>
            <a:srgbClr val="F97316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Dot6"/>
          <p:cNvSpPr/>
          <p:nvPr/>
        </p:nvSpPr>
        <p:spPr>
          <a:xfrm>
            <a:off x="320040" y="4571040"/>
            <a:ext cx="73152" cy="73152"/>
          </a:xfrm>
          <a:prstGeom prst="ellipse">
            <a:avLst/>
          </a:prstGeom>
          <a:solidFill>
            <a:srgbClr val="FBBF7A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Dot7"/>
          <p:cNvSpPr/>
          <p:nvPr/>
        </p:nvSpPr>
        <p:spPr>
          <a:xfrm>
            <a:off x="594360" y="4800600"/>
            <a:ext cx="54864" cy="54864"/>
          </a:xfrm>
          <a:prstGeom prst="ellipse">
            <a:avLst/>
          </a:prstGeom>
          <a:solidFill>
            <a:srgbClr val="F97316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Dot8"/>
          <p:cNvSpPr/>
          <p:nvPr/>
        </p:nvSpPr>
        <p:spPr>
          <a:xfrm>
            <a:off x="8504880" y="4480560"/>
            <a:ext cx="82296" cy="82296"/>
          </a:xfrm>
          <a:prstGeom prst="ellipse">
            <a:avLst/>
          </a:prstGeom>
          <a:solidFill>
            <a:srgbClr val="F97316">
              <a:alpha val="1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Dot9"/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FBBF7A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Dot10"/>
          <p:cNvSpPr/>
          <p:nvPr/>
        </p:nvSpPr>
        <p:spPr>
          <a:xfrm>
            <a:off x="182880" y="3200400"/>
            <a:ext cx="45720" cy="45720"/>
          </a:xfrm>
          <a:prstGeom prst="ellipse">
            <a:avLst/>
          </a:prstGeom>
          <a:solidFill>
            <a:srgbClr val="F97316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Dot11"/>
          <p:cNvSpPr/>
          <p:nvPr/>
        </p:nvSpPr>
        <p:spPr>
          <a:xfrm>
            <a:off x="8960520" y="3429000"/>
            <a:ext cx="54864" cy="54864"/>
          </a:xfrm>
          <a:prstGeom prst="ellipse">
            <a:avLst/>
          </a:prstGeom>
          <a:solidFill>
            <a:srgbClr val="FBBF7A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Dot12"/>
          <p:cNvSpPr/>
          <p:nvPr/>
        </p:nvSpPr>
        <p:spPr>
          <a:xfrm>
            <a:off x="731520" y="182880"/>
            <a:ext cx="36576" cy="36576"/>
          </a:xfrm>
          <a:prstGeom prst="ellipse">
            <a:avLst/>
          </a:prstGeom>
          <a:solidFill>
            <a:srgbClr val="F97316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Dot13"/>
          <p:cNvSpPr/>
          <p:nvPr/>
        </p:nvSpPr>
        <p:spPr>
          <a:xfrm>
            <a:off x="8321040" y="4937760"/>
            <a:ext cx="45720" cy="45720"/>
          </a:xfrm>
          <a:prstGeom prst="ellipse">
            <a:avLst/>
          </a:prstGeom>
          <a:solidFill>
            <a:srgbClr val="F97316">
              <a:alpha val="1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A58D15B-0033-C0BC-5623-53539CFDCB40}"/>
              </a:ext>
            </a:extLst>
          </p:cNvPr>
          <p:cNvSpPr/>
          <p:nvPr/>
        </p:nvSpPr>
        <p:spPr>
          <a:xfrm>
            <a:off x="1357015" y="2714030"/>
            <a:ext cx="6429970" cy="2429470"/>
          </a:xfrm>
          <a:prstGeom prst="rect">
            <a:avLst/>
          </a:prstGeom>
          <a:gradFill rotWithShape="1">
            <a:gsLst>
              <a:gs pos="0">
                <a:srgbClr val="F97316">
                  <a:alpha val="13000"/>
                </a:srgbClr>
              </a:gs>
              <a:gs pos="45000">
                <a:srgbClr val="F97316">
                  <a:alpha val="5000"/>
                </a:srgbClr>
              </a:gs>
              <a:gs pos="72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27A6D5D-F990-3870-2FB3-AA0AEC49A62D}"/>
              </a:ext>
            </a:extLst>
          </p:cNvPr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30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THE SHIFT</a:t>
            </a:r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95C0F786-FABE-6620-9D01-EFFC83554080}"/>
              </a:ext>
            </a:extLst>
          </p:cNvPr>
          <p:cNvSpPr/>
          <p:nvPr/>
        </p:nvSpPr>
        <p:spPr>
          <a:xfrm>
            <a:off x="4251960" y="694944"/>
            <a:ext cx="640080" cy="0"/>
          </a:xfrm>
          <a:prstGeom prst="line">
            <a:avLst/>
          </a:prstGeom>
          <a:noFill/>
          <a:ln w="1905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04230131-CFAB-4C96-984E-524A57B3F524}"/>
              </a:ext>
            </a:extLst>
          </p:cNvPr>
          <p:cNvSpPr/>
          <p:nvPr/>
        </p:nvSpPr>
        <p:spPr>
          <a:xfrm>
            <a:off x="914400" y="1234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5EB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People are rediscovering their ability to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5EB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create, build, and shape their own lives.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47ABD85-A973-AC8F-B8C3-F83DFB376B62}"/>
              </a:ext>
            </a:extLst>
          </p:cNvPr>
          <p:cNvSpPr/>
          <p:nvPr/>
        </p:nvSpPr>
        <p:spPr>
          <a:xfrm>
            <a:off x="4562856" y="2713038"/>
            <a:ext cx="0" cy="91440"/>
          </a:xfrm>
          <a:prstGeom prst="line">
            <a:avLst/>
          </a:prstGeom>
          <a:noFill/>
          <a:ln w="9525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C465576-C156-0282-1534-CFC301340B0F}"/>
              </a:ext>
            </a:extLst>
          </p:cNvPr>
          <p:cNvSpPr/>
          <p:nvPr/>
        </p:nvSpPr>
        <p:spPr>
          <a:xfrm>
            <a:off x="914400" y="295783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BBF7A">
                    <a:alpha val="88000"/>
                  </a:srgbClr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Work is becoming more human, more flexible, more sovereign.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0D66D-F61B-FC36-BB64-0391A1B3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2/workspace/output/ladder.png">
            <a:extLst>
              <a:ext uri="{FF2B5EF4-FFF2-40B4-BE49-F238E27FC236}">
                <a16:creationId xmlns:a16="http://schemas.microsoft.com/office/drawing/2014/main" id="{83C75EF9-E653-0AA8-3E6F-A805B3F949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64482" y="897556"/>
            <a:ext cx="1097280" cy="323408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7D3083B-2230-6235-1527-6781914F152C}"/>
              </a:ext>
            </a:extLst>
          </p:cNvPr>
          <p:cNvSpPr/>
          <p:nvPr/>
        </p:nvSpPr>
        <p:spPr>
          <a:xfrm>
            <a:off x="457200" y="3723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300" normalizeH="0" baseline="0" noProof="0" dirty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THE PROBLEM</a:t>
            </a:r>
            <a:endParaRPr kumimoji="0" lang="en-US" sz="9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8CDEEFC-0D8F-EFA0-48ED-7D35F6C2F812}"/>
              </a:ext>
            </a:extLst>
          </p:cNvPr>
          <p:cNvSpPr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5EB">
                    <a:alpha val="88000"/>
                  </a:srgbClr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corporate ladder is broken.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CA68A39-79E6-EBAF-6A31-9C0BF20DE8F9}"/>
              </a:ext>
            </a:extLst>
          </p:cNvPr>
          <p:cNvSpPr/>
          <p:nvPr/>
        </p:nvSpPr>
        <p:spPr>
          <a:xfrm>
            <a:off x="4507992" y="2029968"/>
            <a:ext cx="54864" cy="54864"/>
          </a:xfrm>
          <a:prstGeom prst="ellipse">
            <a:avLst/>
          </a:prstGeom>
          <a:solidFill>
            <a:srgbClr val="F97316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3FF5328-8FC8-2109-8911-3D1AB6230B93}"/>
              </a:ext>
            </a:extLst>
          </p:cNvPr>
          <p:cNvSpPr/>
          <p:nvPr/>
        </p:nvSpPr>
        <p:spPr>
          <a:xfrm>
            <a:off x="274320" y="21945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staircase was never built for us.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31EED95-34AA-DF0E-84DE-0401AD4F816A}"/>
              </a:ext>
            </a:extLst>
          </p:cNvPr>
          <p:cNvSpPr/>
          <p:nvPr/>
        </p:nvSpPr>
        <p:spPr>
          <a:xfrm>
            <a:off x="4507992" y="3063240"/>
            <a:ext cx="54864" cy="54864"/>
          </a:xfrm>
          <a:prstGeom prst="ellipse">
            <a:avLst/>
          </a:prstGeom>
          <a:solidFill>
            <a:srgbClr val="F97316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ED375C-4DB7-E4B0-8426-E9BD5800C67D}"/>
              </a:ext>
            </a:extLst>
          </p:cNvPr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5EB">
                    <a:alpha val="88000"/>
                  </a:srgbClr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People want freedom, not hierarchy.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4FC4C61-2F4A-A953-9572-D7C4ECED9066}"/>
              </a:ext>
            </a:extLst>
          </p:cNvPr>
          <p:cNvSpPr/>
          <p:nvPr/>
        </p:nvSpPr>
        <p:spPr>
          <a:xfrm>
            <a:off x="4023360" y="4131684"/>
            <a:ext cx="1097280" cy="0"/>
          </a:xfrm>
          <a:prstGeom prst="line">
            <a:avLst/>
          </a:prstGeom>
          <a:noFill/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5818DB82-1118-A154-B833-867BF0F5C4A7}"/>
              </a:ext>
            </a:extLst>
          </p:cNvPr>
          <p:cNvSpPr/>
          <p:nvPr/>
        </p:nvSpPr>
        <p:spPr>
          <a:xfrm>
            <a:off x="4251960" y="694944"/>
            <a:ext cx="640080" cy="0"/>
          </a:xfrm>
          <a:prstGeom prst="line">
            <a:avLst/>
          </a:prstGeom>
          <a:noFill/>
          <a:ln w="1905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608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0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428750"/>
          </a:xfrm>
          <a:prstGeom prst="rect">
            <a:avLst/>
          </a:prstGeom>
          <a:gradFill rotWithShape="1">
            <a:gsLst>
              <a:gs pos="0">
                <a:srgbClr val="000000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57015" y="1499890"/>
            <a:ext cx="6429970" cy="2143720"/>
          </a:xfrm>
          <a:prstGeom prst="rect">
            <a:avLst/>
          </a:prstGeom>
          <a:gradFill rotWithShape="1">
            <a:gsLst>
              <a:gs pos="0">
                <a:srgbClr val="F9731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171078" y="3301857"/>
            <a:ext cx="9144000" cy="185797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45000">
                <a:srgbClr val="B43C00">
                  <a:alpha val="10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>
            <a:alphaModFix amt="8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085868" y="3524250"/>
            <a:ext cx="490772" cy="11614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60176" y="4809994"/>
            <a:ext cx="34215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112" dirty="0">
                <a:solidFill>
                  <a:srgbClr val="6B5A4A">
                    <a:alpha val="82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CLIMB</a:t>
            </a:r>
            <a:endParaRPr lang="en-US" sz="620" dirty="0"/>
          </a:p>
        </p:txBody>
      </p:sp>
      <p:sp>
        <p:nvSpPr>
          <p:cNvPr id="7" name="Text 4"/>
          <p:cNvSpPr/>
          <p:nvPr/>
        </p:nvSpPr>
        <p:spPr>
          <a:xfrm>
            <a:off x="4525342" y="3928170"/>
            <a:ext cx="7590" cy="7149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alphaModFix amt="82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3298" y="3230717"/>
            <a:ext cx="1683402" cy="16086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48669" y="4809995"/>
            <a:ext cx="33266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620" kern="0" spc="112" dirty="0">
                <a:solidFill>
                  <a:srgbClr val="F97316">
                    <a:alpha val="82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</a:t>
            </a:r>
            <a:endParaRPr lang="en-US" sz="620" dirty="0"/>
          </a:p>
        </p:txBody>
      </p:sp>
      <p:sp>
        <p:nvSpPr>
          <p:cNvPr id="10" name="Text 6"/>
          <p:cNvSpPr/>
          <p:nvPr/>
        </p:nvSpPr>
        <p:spPr>
          <a:xfrm>
            <a:off x="4022862" y="690519"/>
            <a:ext cx="1147140" cy="13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900" b="1" kern="0" spc="300" dirty="0">
                <a:solidFill>
                  <a:srgbClr val="F97316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INSIGHT</a:t>
            </a:r>
            <a:endParaRPr lang="en-US" sz="900" spc="300" dirty="0"/>
          </a:p>
        </p:txBody>
      </p:sp>
      <p:sp>
        <p:nvSpPr>
          <p:cNvPr id="11" name="Text 7"/>
          <p:cNvSpPr/>
          <p:nvPr/>
        </p:nvSpPr>
        <p:spPr>
          <a:xfrm>
            <a:off x="2286819" y="1940869"/>
            <a:ext cx="4570363" cy="280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12"/>
              </a:lnSpc>
              <a:buNone/>
            </a:pPr>
            <a:r>
              <a:rPr lang="en-US" sz="1580" i="1" kern="0" spc="16" dirty="0">
                <a:solidFill>
                  <a:srgbClr val="E2A96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Freedom doesn't come from climbing —</a:t>
            </a:r>
            <a:endParaRPr lang="en-US" sz="1580" dirty="0"/>
          </a:p>
        </p:txBody>
      </p:sp>
      <p:sp>
        <p:nvSpPr>
          <p:cNvPr id="12" name="Text 8"/>
          <p:cNvSpPr/>
          <p:nvPr/>
        </p:nvSpPr>
        <p:spPr>
          <a:xfrm>
            <a:off x="2329532" y="2308028"/>
            <a:ext cx="4484936" cy="487412"/>
          </a:xfrm>
          <a:prstGeom prst="rect">
            <a:avLst/>
          </a:prstGeom>
          <a:noFill/>
          <a:ln/>
          <a:effectLst>
            <a:outerShdw blurRad="285750" dist="13970" dir="5400000" algn="bl" rotWithShape="0">
              <a:srgbClr val="F97316">
                <a:alpha val="18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3839"/>
              </a:lnSpc>
              <a:buNone/>
            </a:pPr>
            <a:r>
              <a:rPr lang="en-US" sz="3490" b="1" kern="0" spc="-35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it comes from building.</a:t>
            </a:r>
            <a:endParaRPr lang="en-US" sz="3490" dirty="0"/>
          </a:p>
        </p:txBody>
      </p:sp>
      <p:sp>
        <p:nvSpPr>
          <p:cNvPr id="13" name="Text 9"/>
          <p:cNvSpPr/>
          <p:nvPr/>
        </p:nvSpPr>
        <p:spPr>
          <a:xfrm>
            <a:off x="3429000" y="3087291"/>
            <a:ext cx="2286000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37FEDFD6-E799-1A60-0792-02FDC0DC1C90}"/>
              </a:ext>
            </a:extLst>
          </p:cNvPr>
          <p:cNvSpPr/>
          <p:nvPr/>
        </p:nvSpPr>
        <p:spPr>
          <a:xfrm>
            <a:off x="4251960" y="912658"/>
            <a:ext cx="640080" cy="0"/>
          </a:xfrm>
          <a:prstGeom prst="line">
            <a:avLst/>
          </a:prstGeom>
          <a:noFill/>
          <a:ln w="1905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0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7015" y="2428280"/>
            <a:ext cx="6429970" cy="2715220"/>
          </a:xfrm>
          <a:prstGeom prst="rect">
            <a:avLst/>
          </a:prstGeom>
          <a:gradFill rotWithShape="1">
            <a:gsLst>
              <a:gs pos="0">
                <a:srgbClr val="F97316">
                  <a:alpha val="25000"/>
                </a:srgbClr>
              </a:gs>
              <a:gs pos="45000">
                <a:srgbClr val="F97316">
                  <a:alpha val="8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F97316">
                  <a:alpha val="3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1025" y="2529780"/>
            <a:ext cx="2533650" cy="21580"/>
          </a:xfrm>
          <a:custGeom>
            <a:avLst/>
            <a:gdLst/>
            <a:ahLst/>
            <a:cxnLst/>
            <a:rect l="l" t="t" r="r" b="b"/>
            <a:pathLst>
              <a:path w="2533650" h="21580">
                <a:moveTo>
                  <a:pt x="86360" y="0"/>
                </a:moveTo>
                <a:lnTo>
                  <a:pt x="2447290" y="0"/>
                </a:lnTo>
                <a:lnTo>
                  <a:pt x="2468706" y="2698"/>
                </a:lnTo>
                <a:lnTo>
                  <a:pt x="2477335" y="5395"/>
                </a:lnTo>
                <a:lnTo>
                  <a:pt x="2483790" y="8093"/>
                </a:lnTo>
                <a:lnTo>
                  <a:pt x="2489090" y="10790"/>
                </a:lnTo>
                <a:lnTo>
                  <a:pt x="2493633" y="13488"/>
                </a:lnTo>
                <a:lnTo>
                  <a:pt x="2497624" y="16185"/>
                </a:lnTo>
                <a:lnTo>
                  <a:pt x="2501187" y="18883"/>
                </a:lnTo>
                <a:lnTo>
                  <a:pt x="25044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97316"/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14317" y="3597476"/>
            <a:ext cx="714970" cy="714970"/>
          </a:xfrm>
          <a:prstGeom prst="rect">
            <a:avLst/>
          </a:prstGeom>
          <a:gradFill rotWithShape="1">
            <a:gsLst>
              <a:gs pos="0">
                <a:srgbClr val="F9731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5175" y="2529780"/>
            <a:ext cx="2533650" cy="21580"/>
          </a:xfrm>
          <a:custGeom>
            <a:avLst/>
            <a:gdLst/>
            <a:ahLst/>
            <a:cxnLst/>
            <a:rect l="l" t="t" r="r" b="b"/>
            <a:pathLst>
              <a:path w="2533650" h="21580">
                <a:moveTo>
                  <a:pt x="86360" y="0"/>
                </a:moveTo>
                <a:lnTo>
                  <a:pt x="2447290" y="0"/>
                </a:lnTo>
                <a:lnTo>
                  <a:pt x="2468706" y="2698"/>
                </a:lnTo>
                <a:lnTo>
                  <a:pt x="2477335" y="5395"/>
                </a:lnTo>
                <a:lnTo>
                  <a:pt x="2483790" y="8093"/>
                </a:lnTo>
                <a:lnTo>
                  <a:pt x="2489090" y="10790"/>
                </a:lnTo>
                <a:lnTo>
                  <a:pt x="2493633" y="13488"/>
                </a:lnTo>
                <a:lnTo>
                  <a:pt x="2497624" y="16185"/>
                </a:lnTo>
                <a:lnTo>
                  <a:pt x="2501187" y="18883"/>
                </a:lnTo>
                <a:lnTo>
                  <a:pt x="25044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97316"/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8467" y="3597476"/>
            <a:ext cx="714970" cy="714970"/>
          </a:xfrm>
          <a:prstGeom prst="rect">
            <a:avLst/>
          </a:prstGeom>
          <a:gradFill rotWithShape="1">
            <a:gsLst>
              <a:gs pos="0">
                <a:srgbClr val="F9731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9325" y="2529780"/>
            <a:ext cx="2533650" cy="21580"/>
          </a:xfrm>
          <a:custGeom>
            <a:avLst/>
            <a:gdLst/>
            <a:ahLst/>
            <a:cxnLst/>
            <a:rect l="l" t="t" r="r" b="b"/>
            <a:pathLst>
              <a:path w="2533650" h="21580">
                <a:moveTo>
                  <a:pt x="86360" y="0"/>
                </a:moveTo>
                <a:lnTo>
                  <a:pt x="2447290" y="0"/>
                </a:lnTo>
                <a:lnTo>
                  <a:pt x="2468706" y="2698"/>
                </a:lnTo>
                <a:lnTo>
                  <a:pt x="2477335" y="5395"/>
                </a:lnTo>
                <a:lnTo>
                  <a:pt x="2483790" y="8093"/>
                </a:lnTo>
                <a:lnTo>
                  <a:pt x="2489090" y="10790"/>
                </a:lnTo>
                <a:lnTo>
                  <a:pt x="2493633" y="13488"/>
                </a:lnTo>
                <a:lnTo>
                  <a:pt x="2497624" y="16185"/>
                </a:lnTo>
                <a:lnTo>
                  <a:pt x="2501187" y="18883"/>
                </a:lnTo>
                <a:lnTo>
                  <a:pt x="250440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F97316"/>
              </a:gs>
              <a:gs pos="100000">
                <a:srgbClr val="F97316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62617" y="3597476"/>
            <a:ext cx="714970" cy="714970"/>
          </a:xfrm>
          <a:prstGeom prst="rect">
            <a:avLst/>
          </a:prstGeom>
          <a:gradFill rotWithShape="1">
            <a:gsLst>
              <a:gs pos="0">
                <a:srgbClr val="F9731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434653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8441" y="372070"/>
            <a:ext cx="142641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OPPORTUNITY</a:t>
            </a:r>
            <a:endParaRPr lang="en-US" sz="900" spc="300" dirty="0"/>
          </a:p>
        </p:txBody>
      </p:sp>
      <p:sp>
        <p:nvSpPr>
          <p:cNvPr id="12" name="Text 10"/>
          <p:cNvSpPr/>
          <p:nvPr/>
        </p:nvSpPr>
        <p:spPr>
          <a:xfrm>
            <a:off x="571500" y="725686"/>
            <a:ext cx="6267105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82"/>
              </a:lnSpc>
              <a:spcAft>
                <a:spcPts val="790"/>
              </a:spcAft>
              <a:buNone/>
            </a:pPr>
            <a:r>
              <a:rPr lang="en-US" sz="2930" kern="0" spc="-29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Micro business is the </a:t>
            </a:r>
            <a:r>
              <a:rPr lang="en-US" sz="2930" b="1" kern="0" spc="-29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future</a:t>
            </a:r>
            <a:br>
              <a:rPr dirty="0"/>
            </a:br>
            <a:r>
              <a:rPr lang="en-US" sz="2930" kern="0" spc="-29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of economic freedom.</a:t>
            </a:r>
            <a:endParaRPr lang="en-US" sz="2930" dirty="0"/>
          </a:p>
        </p:txBody>
      </p:sp>
      <p:sp>
        <p:nvSpPr>
          <p:cNvPr id="13" name="Text 11"/>
          <p:cNvSpPr/>
          <p:nvPr/>
        </p:nvSpPr>
        <p:spPr>
          <a:xfrm>
            <a:off x="571500" y="1659434"/>
            <a:ext cx="4586654" cy="24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0"/>
              </a:lnSpc>
              <a:spcAft>
                <a:spcPts val="2590"/>
              </a:spcAft>
              <a:buNone/>
            </a:pPr>
            <a:r>
              <a:rPr lang="en-US" sz="1180" kern="0" spc="12" dirty="0">
                <a:solidFill>
                  <a:srgbClr val="F5C97A">
                    <a:alpha val="92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Not because it's small — but because it's </a:t>
            </a:r>
            <a:r>
              <a:rPr lang="en-US" sz="1180" i="1" kern="0" spc="12" dirty="0">
                <a:solidFill>
                  <a:srgbClr val="F5C97A">
                    <a:alpha val="92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yours.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571500" y="2213074"/>
            <a:ext cx="8001000" cy="7590"/>
          </a:xfrm>
          <a:prstGeom prst="rect">
            <a:avLst/>
          </a:prstGeom>
          <a:gradFill rotWithShape="1">
            <a:gsLst>
              <a:gs pos="0">
                <a:srgbClr val="F97316">
                  <a:alpha val="50000"/>
                </a:srgbClr>
              </a:gs>
              <a:gs pos="70000">
                <a:srgbClr val="F97316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2520255"/>
            <a:ext cx="2552700" cy="1587103"/>
          </a:xfrm>
          <a:prstGeom prst="roundRect">
            <a:avLst>
              <a:gd name="adj" fmla="val 5441"/>
            </a:avLst>
          </a:prstGeom>
          <a:gradFill rotWithShape="1">
            <a:gsLst>
              <a:gs pos="99000">
                <a:srgbClr val="F97316">
                  <a:alpha val="9000"/>
                </a:srgbClr>
              </a:gs>
              <a:gs pos="100000">
                <a:srgbClr val="2E1200"/>
              </a:gs>
            </a:gsLst>
            <a:lin ang="2700000" scaled="1"/>
          </a:gradFill>
          <a:ln w="9525">
            <a:solidFill>
              <a:srgbClr val="F9731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795" y="2758380"/>
            <a:ext cx="150465" cy="1504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8795" y="3009156"/>
            <a:ext cx="211901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30"/>
              </a:lnSpc>
              <a:buNone/>
            </a:pPr>
            <a:r>
              <a:rPr lang="en-US" sz="3830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35M</a:t>
            </a:r>
            <a:r>
              <a:rPr lang="en-US" sz="2250" b="1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+</a:t>
            </a:r>
            <a:endParaRPr lang="en-US" sz="3830" dirty="0"/>
          </a:p>
        </p:txBody>
      </p:sp>
      <p:sp>
        <p:nvSpPr>
          <p:cNvPr id="18" name="Text 15"/>
          <p:cNvSpPr/>
          <p:nvPr/>
        </p:nvSpPr>
        <p:spPr>
          <a:xfrm>
            <a:off x="838795" y="3566517"/>
            <a:ext cx="2058472" cy="33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Micro businesses</a:t>
            </a:r>
            <a:br/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the US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3295650" y="2520255"/>
            <a:ext cx="2552700" cy="1587103"/>
          </a:xfrm>
          <a:prstGeom prst="roundRect">
            <a:avLst>
              <a:gd name="adj" fmla="val 5441"/>
            </a:avLst>
          </a:prstGeom>
          <a:gradFill rotWithShape="1">
            <a:gsLst>
              <a:gs pos="100000">
                <a:srgbClr val="F97316">
                  <a:alpha val="9000"/>
                </a:srgbClr>
              </a:gs>
              <a:gs pos="100000">
                <a:srgbClr val="2E1200"/>
              </a:gs>
            </a:gsLst>
            <a:lin ang="2700000" scaled="1"/>
          </a:gradFill>
          <a:ln w="9525">
            <a:solidFill>
              <a:srgbClr val="F97316">
                <a:alpha val="20000"/>
              </a:srgbClr>
            </a:solidFill>
          </a:ln>
        </p:spPr>
        <p:txBody>
          <a:bodyPr wrap="square" rtlCol="0" anchor="t"/>
          <a:lstStyle/>
          <a:p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945" y="2758380"/>
            <a:ext cx="150465" cy="15046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62945" y="3009156"/>
            <a:ext cx="211901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30"/>
              </a:lnSpc>
              <a:buNone/>
            </a:pPr>
            <a:r>
              <a:rPr lang="en-US" sz="3830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50</a:t>
            </a:r>
            <a:r>
              <a:rPr lang="en-US" sz="2250" b="1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%</a:t>
            </a:r>
            <a:endParaRPr lang="en-US" sz="3830" dirty="0"/>
          </a:p>
        </p:txBody>
      </p:sp>
      <p:sp>
        <p:nvSpPr>
          <p:cNvPr id="22" name="Text 18"/>
          <p:cNvSpPr/>
          <p:nvPr/>
        </p:nvSpPr>
        <p:spPr>
          <a:xfrm>
            <a:off x="3562945" y="3566517"/>
            <a:ext cx="2058472" cy="33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Of new businesses</a:t>
            </a:r>
            <a:br/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start at home</a:t>
            </a:r>
            <a:endParaRPr lang="en-US" sz="960" dirty="0"/>
          </a:p>
        </p:txBody>
      </p:sp>
      <p:sp>
        <p:nvSpPr>
          <p:cNvPr id="23" name="Text 19"/>
          <p:cNvSpPr/>
          <p:nvPr/>
        </p:nvSpPr>
        <p:spPr>
          <a:xfrm>
            <a:off x="6019800" y="2520255"/>
            <a:ext cx="2552700" cy="1587103"/>
          </a:xfrm>
          <a:prstGeom prst="roundRect">
            <a:avLst>
              <a:gd name="adj" fmla="val 5441"/>
            </a:avLst>
          </a:prstGeom>
          <a:gradFill rotWithShape="1">
            <a:gsLst>
              <a:gs pos="100000">
                <a:srgbClr val="F97316">
                  <a:alpha val="9000"/>
                </a:srgbClr>
              </a:gs>
              <a:gs pos="100000">
                <a:srgbClr val="2E1200"/>
              </a:gs>
            </a:gsLst>
            <a:lin ang="2700000" scaled="1"/>
          </a:gradFill>
          <a:ln w="9525">
            <a:solidFill>
              <a:srgbClr val="F97316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7095" y="2758380"/>
            <a:ext cx="150465" cy="15046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87095" y="3009156"/>
            <a:ext cx="211901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30"/>
              </a:lnSpc>
              <a:buNone/>
            </a:pPr>
            <a:r>
              <a:rPr lang="en-US" sz="3830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$1.3</a:t>
            </a:r>
            <a:r>
              <a:rPr lang="en-US" sz="2250" b="1" kern="0" spc="-77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</a:t>
            </a:r>
            <a:endParaRPr lang="en-US" sz="3830" dirty="0"/>
          </a:p>
        </p:txBody>
      </p:sp>
      <p:sp>
        <p:nvSpPr>
          <p:cNvPr id="26" name="Text 21"/>
          <p:cNvSpPr/>
          <p:nvPr/>
        </p:nvSpPr>
        <p:spPr>
          <a:xfrm>
            <a:off x="6287095" y="3566517"/>
            <a:ext cx="2058472" cy="332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Generated by self-employed</a:t>
            </a:r>
            <a:br/>
            <a:r>
              <a:rPr lang="en-US" sz="960" dirty="0">
                <a:solidFill>
                  <a:srgbClr val="FFF5EB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individuals annually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Gradient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F97316">
                  <a:alpha val="2000"/>
                </a:srgbClr>
              </a:gs>
              <a:gs pos="100000">
                <a:srgbClr val="F97316">
                  <a:alpha val="2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Ambient Glow"/>
          <p:cNvSpPr/>
          <p:nvPr/>
        </p:nvSpPr>
        <p:spPr>
          <a:xfrm>
            <a:off x="0" y="0"/>
            <a:ext cx="2000250" cy="1571030"/>
          </a:xfrm>
          <a:prstGeom prst="rect">
            <a:avLst/>
          </a:prstGeom>
          <a:gradFill rotWithShape="1">
            <a:gsLst>
              <a:gs pos="0">
                <a:srgbClr val="F97316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unburst"/>
          <p:cNvSpPr/>
          <p:nvPr/>
        </p:nvSpPr>
        <p:spPr>
          <a:xfrm>
            <a:off x="4853354" y="2215015"/>
            <a:ext cx="4290646" cy="2928485"/>
          </a:xfrm>
          <a:prstGeom prst="rect">
            <a:avLst/>
          </a:prstGeom>
          <a:gradFill rotWithShape="1">
            <a:gsLst>
              <a:gs pos="0">
                <a:srgbClr val="F97316">
                  <a:alpha val="22000"/>
                </a:srgbClr>
              </a:gs>
              <a:gs pos="40000">
                <a:srgbClr val="FB8F3C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Right Gradient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gradFill rotWithShape="1">
            <a:gsLst>
              <a:gs pos="0">
                <a:srgbClr val="F97316">
                  <a:alpha val="13000"/>
                </a:srgbClr>
              </a:gs>
              <a:gs pos="40000">
                <a:srgbClr val="F9731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ivider"/>
          <p:cNvSpPr/>
          <p:nvPr/>
        </p:nvSpPr>
        <p:spPr>
          <a:xfrm>
            <a:off x="2700000" y="342900"/>
            <a:ext cx="9144" cy="4457700"/>
          </a:xfrm>
          <a:prstGeom prst="rect">
            <a:avLst/>
          </a:prstGeom>
          <a:gradFill rotWithShape="1">
            <a:gsLst>
              <a:gs pos="0">
                <a:srgbClr val="F97316">
                  <a:alpha val="0"/>
                </a:srgbClr>
              </a:gs>
              <a:gs pos="30000">
                <a:srgbClr val="F97316">
                  <a:alpha val="35000"/>
                </a:srgbClr>
              </a:gs>
              <a:gs pos="70000">
                <a:srgbClr val="F97316">
                  <a:alpha val="35000"/>
                </a:srgbClr>
              </a:gs>
              <a:gs pos="100000">
                <a:srgbClr val="F97316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ection Label"/>
          <p:cNvSpPr/>
          <p:nvPr/>
        </p:nvSpPr>
        <p:spPr>
          <a:xfrm>
            <a:off x="514350" y="1823000"/>
            <a:ext cx="2000000" cy="15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780" b="1" kern="0" spc="186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SOLFOUND PHILOSOPHY</a:t>
            </a:r>
          </a:p>
        </p:txBody>
      </p:sp>
      <p:sp>
        <p:nvSpPr>
          <p:cNvPr id="10" name="Title"/>
          <p:cNvSpPr/>
          <p:nvPr/>
        </p:nvSpPr>
        <p:spPr>
          <a:xfrm>
            <a:off x="514350" y="2100000"/>
            <a:ext cx="24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i="1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A creed for</a:t>
            </a:r>
            <a:br>
              <a:rPr lang="en-US" sz="2200" i="1">
                <a:solidFill>
                  <a:srgbClr val="FFF5EB"/>
                </a:solidFill>
                <a:latin typeface="Constantia" pitchFamily="34" charset="0"/>
              </a:rPr>
            </a:br>
            <a:r>
              <a:rPr lang="en-US" sz="2200" i="1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</a:t>
            </a:r>
            <a:r>
              <a:rPr lang="en-US" sz="2200" b="1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sovereign</a:t>
            </a:r>
            <a:br>
              <a:rPr lang="en-US" sz="2200" i="1">
                <a:solidFill>
                  <a:srgbClr val="FFF5EB"/>
                </a:solidFill>
                <a:latin typeface="Constantia" pitchFamily="34" charset="0"/>
              </a:rPr>
            </a:br>
            <a:r>
              <a:rPr lang="en-US" sz="2200" i="1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builder.</a:t>
            </a:r>
          </a:p>
        </p:txBody>
      </p:sp>
      <p:sp>
        <p:nvSpPr>
          <p:cNvPr id="11" name="Accent Bar"/>
          <p:cNvSpPr/>
          <p:nvPr/>
        </p:nvSpPr>
        <p:spPr>
          <a:xfrm>
            <a:off x="514350" y="3200000"/>
            <a:ext cx="342900" cy="2143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F97316"/>
              </a:gs>
              <a:gs pos="100000">
                <a:srgbClr val="F97316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Creed 1"/>
          <p:cNvSpPr/>
          <p:nvPr/>
        </p:nvSpPr>
        <p:spPr>
          <a:xfrm>
            <a:off x="3388024" y="1580000"/>
            <a:ext cx="5241976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 make is mine.</a:t>
            </a:r>
          </a:p>
        </p:txBody>
      </p:sp>
      <p:sp>
        <p:nvSpPr>
          <p:cNvPr id="31" name="Sep 1"/>
          <p:cNvSpPr/>
          <p:nvPr/>
        </p:nvSpPr>
        <p:spPr>
          <a:xfrm>
            <a:off x="3050000" y="1935000"/>
            <a:ext cx="5580000" cy="76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2" name="Creed 2"/>
          <p:cNvSpPr/>
          <p:nvPr/>
        </p:nvSpPr>
        <p:spPr>
          <a:xfrm>
            <a:off x="3388024" y="1970000"/>
            <a:ext cx="5241976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 learn stays with me.</a:t>
            </a:r>
          </a:p>
        </p:txBody>
      </p:sp>
      <p:sp>
        <p:nvSpPr>
          <p:cNvPr id="33" name="Sep 2"/>
          <p:cNvSpPr/>
          <p:nvPr/>
        </p:nvSpPr>
        <p:spPr>
          <a:xfrm>
            <a:off x="3050000" y="2325000"/>
            <a:ext cx="5580000" cy="76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4" name="Creed 3"/>
          <p:cNvSpPr/>
          <p:nvPr/>
        </p:nvSpPr>
        <p:spPr>
          <a:xfrm>
            <a:off x="3388024" y="2360000"/>
            <a:ext cx="5241976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If it breaks, I can shape it again.</a:t>
            </a:r>
          </a:p>
        </p:txBody>
      </p:sp>
      <p:sp>
        <p:nvSpPr>
          <p:cNvPr id="35" name="Sep 3"/>
          <p:cNvSpPr/>
          <p:nvPr/>
        </p:nvSpPr>
        <p:spPr>
          <a:xfrm>
            <a:off x="3050000" y="2715000"/>
            <a:ext cx="5580000" cy="76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6" name="Creed 4"/>
          <p:cNvSpPr/>
          <p:nvPr/>
        </p:nvSpPr>
        <p:spPr>
          <a:xfrm>
            <a:off x="3510000" y="2750000"/>
            <a:ext cx="51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97316"/>
                </a:solidFill>
                <a:latin typeface="Corbel" pitchFamily="34" charset="0"/>
              </a:rPr>
              <a:t>☀   </a:t>
            </a:r>
            <a:r>
              <a:rPr lang="en-US" sz="1400" i="1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 am the source —</a:t>
            </a:r>
          </a:p>
        </p:txBody>
      </p:sp>
      <p:sp>
        <p:nvSpPr>
          <p:cNvPr id="37" name="Sep 4"/>
          <p:cNvSpPr/>
          <p:nvPr/>
        </p:nvSpPr>
        <p:spPr>
          <a:xfrm>
            <a:off x="3250000" y="3105000"/>
            <a:ext cx="5380000" cy="7600"/>
          </a:xfrm>
          <a:prstGeom prst="rect">
            <a:avLst/>
          </a:prstGeom>
          <a:solidFill>
            <a:srgbClr val="F97316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38" name="Creed 5"/>
          <p:cNvSpPr/>
          <p:nvPr/>
        </p:nvSpPr>
        <p:spPr>
          <a:xfrm>
            <a:off x="3840606" y="3140000"/>
            <a:ext cx="478939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97316"/>
                </a:solidFill>
                <a:latin typeface="Corbel" pitchFamily="34" charset="0"/>
              </a:rPr>
              <a:t>↻   </a:t>
            </a:r>
            <a:r>
              <a:rPr lang="en-US" sz="1300" i="1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and the return.</a:t>
            </a:r>
          </a:p>
        </p:txBody>
      </p:sp>
      <p:sp>
        <p:nvSpPr>
          <p:cNvPr id="25" name="Dot"/>
          <p:cNvSpPr/>
          <p:nvPr/>
        </p:nvSpPr>
        <p:spPr>
          <a:xfrm>
            <a:off x="7207319" y="3803907"/>
            <a:ext cx="182880" cy="182880"/>
          </a:xfrm>
          <a:prstGeom prst="ellipse">
            <a:avLst/>
          </a:prstGeom>
          <a:gradFill flip="none" rotWithShape="1">
            <a:gsLst>
              <a:gs pos="0">
                <a:srgbClr val="F97316">
                  <a:shade val="30000"/>
                  <a:satMod val="115000"/>
                </a:srgbClr>
              </a:gs>
              <a:gs pos="50000">
                <a:srgbClr val="F97316">
                  <a:shade val="67500"/>
                  <a:satMod val="115000"/>
                </a:srgbClr>
              </a:gs>
              <a:gs pos="100000">
                <a:srgbClr val="F97316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171450" dist="50800" dir="16200000" algn="bl" rotWithShape="0">
              <a:srgbClr val="F97316">
                <a:alpha val="4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9CA90C0-0825-D391-4D5E-9AED2E2CD52B}"/>
              </a:ext>
            </a:extLst>
          </p:cNvPr>
          <p:cNvCxnSpPr>
            <a:cxnSpLocks/>
          </p:cNvCxnSpPr>
          <p:nvPr/>
        </p:nvCxnSpPr>
        <p:spPr>
          <a:xfrm flipH="1">
            <a:off x="6461125" y="3396000"/>
            <a:ext cx="1479550" cy="1113702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D9EFC6-1193-E87D-800D-F8A8B0F72895}"/>
              </a:ext>
            </a:extLst>
          </p:cNvPr>
          <p:cNvCxnSpPr>
            <a:cxnSpLocks/>
          </p:cNvCxnSpPr>
          <p:nvPr/>
        </p:nvCxnSpPr>
        <p:spPr>
          <a:xfrm flipH="1">
            <a:off x="6776844" y="3275368"/>
            <a:ext cx="930955" cy="1384847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083D5E-5DB0-C71C-81D6-587C386F97B1}"/>
              </a:ext>
            </a:extLst>
          </p:cNvPr>
          <p:cNvCxnSpPr>
            <a:cxnSpLocks/>
          </p:cNvCxnSpPr>
          <p:nvPr/>
        </p:nvCxnSpPr>
        <p:spPr>
          <a:xfrm flipH="1" flipV="1">
            <a:off x="7284450" y="3888234"/>
            <a:ext cx="682218" cy="24223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27095A6-FC33-4C74-2AFF-96A2AF1ED654}"/>
              </a:ext>
            </a:extLst>
          </p:cNvPr>
          <p:cNvCxnSpPr>
            <a:cxnSpLocks/>
          </p:cNvCxnSpPr>
          <p:nvPr/>
        </p:nvCxnSpPr>
        <p:spPr>
          <a:xfrm>
            <a:off x="7270072" y="3888234"/>
            <a:ext cx="751759" cy="207215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7E15918-EDFD-AB65-0D27-F27DD1D7C518}"/>
              </a:ext>
            </a:extLst>
          </p:cNvPr>
          <p:cNvCxnSpPr>
            <a:cxnSpLocks/>
          </p:cNvCxnSpPr>
          <p:nvPr/>
        </p:nvCxnSpPr>
        <p:spPr>
          <a:xfrm>
            <a:off x="7284450" y="3881311"/>
            <a:ext cx="105749" cy="694577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E0A596-BAAB-5ED8-244E-4CEBB1E1943C}"/>
              </a:ext>
            </a:extLst>
          </p:cNvPr>
          <p:cNvCxnSpPr>
            <a:cxnSpLocks/>
          </p:cNvCxnSpPr>
          <p:nvPr/>
        </p:nvCxnSpPr>
        <p:spPr>
          <a:xfrm flipH="1" flipV="1">
            <a:off x="7284450" y="3888234"/>
            <a:ext cx="493080" cy="765058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EF45522-E8C6-9A66-18F6-1F4220E94B40}"/>
              </a:ext>
            </a:extLst>
          </p:cNvPr>
          <p:cNvCxnSpPr>
            <a:cxnSpLocks/>
          </p:cNvCxnSpPr>
          <p:nvPr/>
        </p:nvCxnSpPr>
        <p:spPr>
          <a:xfrm flipH="1">
            <a:off x="7284450" y="3646488"/>
            <a:ext cx="971944" cy="241746"/>
          </a:xfrm>
          <a:prstGeom prst="line">
            <a:avLst/>
          </a:prstGeom>
          <a:ln w="12700">
            <a:solidFill>
              <a:srgbClr val="F97316">
                <a:alpha val="25098"/>
              </a:srgb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9" name="Graphic 68" descr="Torch outline">
            <a:extLst>
              <a:ext uri="{FF2B5EF4-FFF2-40B4-BE49-F238E27FC236}">
                <a16:creationId xmlns:a16="http://schemas.microsoft.com/office/drawing/2014/main" id="{CB144FFC-2E8D-AD0E-F2F6-C4760CCFD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0909" y="1605000"/>
            <a:ext cx="320040" cy="320040"/>
          </a:xfrm>
          <a:prstGeom prst="rect">
            <a:avLst/>
          </a:prstGeom>
        </p:spPr>
      </p:pic>
      <p:pic>
        <p:nvPicPr>
          <p:cNvPr id="71" name="Graphic 70" descr="Books outline">
            <a:extLst>
              <a:ext uri="{FF2B5EF4-FFF2-40B4-BE49-F238E27FC236}">
                <a16:creationId xmlns:a16="http://schemas.microsoft.com/office/drawing/2014/main" id="{65151993-5C9B-2AC7-AFC4-FDA45D9962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3134" y="2011680"/>
            <a:ext cx="274320" cy="274320"/>
          </a:xfrm>
          <a:prstGeom prst="rect">
            <a:avLst/>
          </a:prstGeom>
        </p:spPr>
      </p:pic>
      <p:pic>
        <p:nvPicPr>
          <p:cNvPr id="73" name="Graphic 72" descr="Tools outline">
            <a:extLst>
              <a:ext uri="{FF2B5EF4-FFF2-40B4-BE49-F238E27FC236}">
                <a16:creationId xmlns:a16="http://schemas.microsoft.com/office/drawing/2014/main" id="{5C0817CC-49CD-C379-556F-371F1E9A1F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3134" y="239408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2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" y="38398"/>
            <a:ext cx="9144000" cy="1143000"/>
          </a:xfrm>
          <a:prstGeom prst="rect">
            <a:avLst/>
          </a:prstGeom>
          <a:gradFill rotWithShape="1">
            <a:gsLst>
              <a:gs pos="0">
                <a:srgbClr val="0F0500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278660"/>
            <a:ext cx="91440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97316">
                  <a:alpha val="25000"/>
                </a:srgbClr>
              </a:gs>
              <a:gs pos="50000">
                <a:srgbClr val="F97316">
                  <a:alpha val="55000"/>
                </a:srgbClr>
              </a:gs>
              <a:gs pos="80000">
                <a:srgbClr val="F97316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2640" y="3925340"/>
            <a:ext cx="7858720" cy="1218160"/>
          </a:xfrm>
          <a:prstGeom prst="rect">
            <a:avLst/>
          </a:prstGeom>
          <a:gradFill rotWithShape="1">
            <a:gsLst>
              <a:gs pos="0">
                <a:srgbClr val="F97316">
                  <a:alpha val="42000"/>
                </a:srgbClr>
              </a:gs>
              <a:gs pos="45000">
                <a:srgbClr val="F95000">
                  <a:alpha val="18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1387773"/>
            <a:ext cx="3752850" cy="21580"/>
          </a:xfrm>
          <a:custGeom>
            <a:avLst/>
            <a:gdLst/>
            <a:ahLst/>
            <a:cxnLst/>
            <a:rect l="l" t="t" r="r" b="b"/>
            <a:pathLst>
              <a:path w="3752850" h="21580">
                <a:moveTo>
                  <a:pt x="114300" y="0"/>
                </a:moveTo>
                <a:lnTo>
                  <a:pt x="3638550" y="0"/>
                </a:lnTo>
                <a:lnTo>
                  <a:pt x="3663235" y="2698"/>
                </a:lnTo>
                <a:lnTo>
                  <a:pt x="3673251" y="5395"/>
                </a:lnTo>
                <a:lnTo>
                  <a:pt x="3680793" y="8093"/>
                </a:lnTo>
                <a:lnTo>
                  <a:pt x="3687029" y="10790"/>
                </a:lnTo>
                <a:lnTo>
                  <a:pt x="3692414" y="13488"/>
                </a:lnTo>
                <a:lnTo>
                  <a:pt x="3697184" y="16185"/>
                </a:lnTo>
                <a:lnTo>
                  <a:pt x="3701478" y="18883"/>
                </a:lnTo>
                <a:lnTo>
                  <a:pt x="3705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97316">
                  <a:alpha val="60000"/>
                </a:srgbClr>
              </a:gs>
              <a:gs pos="100000">
                <a:srgbClr val="F97316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67275" y="1387773"/>
            <a:ext cx="3752850" cy="21580"/>
          </a:xfrm>
          <a:custGeom>
            <a:avLst/>
            <a:gdLst/>
            <a:ahLst/>
            <a:cxnLst/>
            <a:rect l="l" t="t" r="r" b="b"/>
            <a:pathLst>
              <a:path w="3752850" h="21580">
                <a:moveTo>
                  <a:pt x="114300" y="0"/>
                </a:moveTo>
                <a:lnTo>
                  <a:pt x="3638550" y="0"/>
                </a:lnTo>
                <a:lnTo>
                  <a:pt x="3663235" y="2698"/>
                </a:lnTo>
                <a:lnTo>
                  <a:pt x="3673251" y="5395"/>
                </a:lnTo>
                <a:lnTo>
                  <a:pt x="3680793" y="8093"/>
                </a:lnTo>
                <a:lnTo>
                  <a:pt x="3687029" y="10790"/>
                </a:lnTo>
                <a:lnTo>
                  <a:pt x="3692414" y="13488"/>
                </a:lnTo>
                <a:lnTo>
                  <a:pt x="3697184" y="16185"/>
                </a:lnTo>
                <a:lnTo>
                  <a:pt x="3701478" y="18883"/>
                </a:lnTo>
                <a:lnTo>
                  <a:pt x="3705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F97316">
                  <a:alpha val="60000"/>
                </a:srgbClr>
              </a:gs>
              <a:gs pos="100000">
                <a:srgbClr val="F97316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25761" y="4993084"/>
            <a:ext cx="6492183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7582" y="378122"/>
            <a:ext cx="17694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SOLUTION</a:t>
            </a:r>
            <a:endParaRPr lang="en-US" sz="900" spc="300" dirty="0"/>
          </a:p>
        </p:txBody>
      </p:sp>
      <p:sp>
        <p:nvSpPr>
          <p:cNvPr id="9" name="Text 7"/>
          <p:cNvSpPr/>
          <p:nvPr/>
        </p:nvSpPr>
        <p:spPr>
          <a:xfrm>
            <a:off x="571500" y="653951"/>
            <a:ext cx="3136900" cy="465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65"/>
              </a:lnSpc>
              <a:spcAft>
                <a:spcPts val="1800"/>
              </a:spcAft>
              <a:buNone/>
            </a:pPr>
            <a:r>
              <a:rPr lang="en-US" sz="3490" kern="0" spc="-30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Sol</a:t>
            </a:r>
            <a:r>
              <a:rPr lang="en-US" sz="3490" b="1" kern="0" spc="-30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Found</a:t>
            </a:r>
            <a:endParaRPr lang="en-US" sz="3490" dirty="0"/>
          </a:p>
        </p:txBody>
      </p:sp>
      <p:sp>
        <p:nvSpPr>
          <p:cNvPr id="10" name="Text 8"/>
          <p:cNvSpPr/>
          <p:nvPr/>
        </p:nvSpPr>
        <p:spPr>
          <a:xfrm>
            <a:off x="514350" y="1403648"/>
            <a:ext cx="3771900" cy="2398662"/>
          </a:xfrm>
          <a:prstGeom prst="roundRect">
            <a:avLst>
              <a:gd name="adj" fmla="val 3617"/>
            </a:avLst>
          </a:prstGeom>
          <a:gradFill rotWithShape="1">
            <a:gsLst>
              <a:gs pos="0">
                <a:srgbClr val="3D1A00"/>
              </a:gs>
              <a:gs pos="100000">
                <a:srgbClr val="2E1100"/>
              </a:gs>
            </a:gsLst>
            <a:lin ang="3300000" scaled="1"/>
          </a:gradFill>
          <a:ln w="9525">
            <a:solidFill>
              <a:srgbClr val="F97316">
                <a:alpha val="18000"/>
              </a:srgbClr>
            </a:solidFill>
          </a:ln>
        </p:spPr>
        <p:txBody>
          <a:bodyPr wrap="square" rtlCol="0" anchor="t"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5635" y="1683643"/>
            <a:ext cx="365760" cy="365760"/>
          </a:xfrm>
          <a:prstGeom prst="roundRect">
            <a:avLst>
              <a:gd name="adj" fmla="val 2518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780" y="1734741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57339" y="1683941"/>
            <a:ext cx="1828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spcAft>
                <a:spcPts val="790"/>
              </a:spcAft>
              <a:buNone/>
            </a:pPr>
            <a:r>
              <a:rPr lang="en-US" sz="1580" b="1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Human-Scale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795635" y="2501007"/>
            <a:ext cx="3273516" cy="430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6"/>
              </a:lnSpc>
              <a:buNone/>
            </a:pPr>
            <a:r>
              <a:rPr lang="en-US" sz="1100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Designed around people, not org charts. No rungs. No gatekeepers. Just a clear path forward.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50420" y="1340148"/>
            <a:ext cx="43160" cy="43160"/>
          </a:xfrm>
          <a:prstGeom prst="ellipse">
            <a:avLst/>
          </a:prstGeom>
          <a:solidFill>
            <a:srgbClr val="F9731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568130" y="1502668"/>
            <a:ext cx="7590" cy="2987576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F97316">
                  <a:alpha val="30000"/>
                </a:srgbClr>
              </a:gs>
              <a:gs pos="70000">
                <a:srgbClr val="F9731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50420" y="4298454"/>
            <a:ext cx="43160" cy="43160"/>
          </a:xfrm>
          <a:prstGeom prst="ellipse">
            <a:avLst/>
          </a:prstGeom>
          <a:solidFill>
            <a:srgbClr val="F97316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57750" y="1403648"/>
            <a:ext cx="3771900" cy="2398662"/>
          </a:xfrm>
          <a:prstGeom prst="roundRect">
            <a:avLst>
              <a:gd name="adj" fmla="val 3617"/>
            </a:avLst>
          </a:prstGeom>
          <a:gradFill rotWithShape="1">
            <a:gsLst>
              <a:gs pos="0">
                <a:srgbClr val="3D1A00"/>
              </a:gs>
              <a:gs pos="100000">
                <a:srgbClr val="2E1100"/>
              </a:gs>
            </a:gsLst>
            <a:lin ang="3300000" scaled="1"/>
          </a:gradFill>
          <a:ln w="9525">
            <a:solidFill>
              <a:srgbClr val="F97316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139035" y="1683643"/>
            <a:ext cx="365760" cy="365760"/>
          </a:xfrm>
          <a:prstGeom prst="roundRect">
            <a:avLst>
              <a:gd name="adj" fmla="val 25185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4179" y="1745257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610801" y="1698000"/>
            <a:ext cx="1828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7"/>
              </a:lnSpc>
              <a:spcAft>
                <a:spcPts val="790"/>
              </a:spcAft>
              <a:buNone/>
            </a:pPr>
            <a:r>
              <a:rPr lang="en-US" sz="1580" b="1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Non-Hierarchical</a:t>
            </a:r>
            <a:endParaRPr lang="en-US" sz="1580" dirty="0"/>
          </a:p>
        </p:txBody>
      </p:sp>
      <p:sp>
        <p:nvSpPr>
          <p:cNvPr id="22" name="Text 18"/>
          <p:cNvSpPr/>
          <p:nvPr/>
        </p:nvSpPr>
        <p:spPr>
          <a:xfrm>
            <a:off x="5139035" y="2501007"/>
            <a:ext cx="3273516" cy="430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6"/>
              </a:lnSpc>
              <a:buNone/>
            </a:pPr>
            <a:r>
              <a:rPr lang="en-US" sz="1100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Built for micro businesses, solo founders, and everyday builders — not corporations or consultants.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8585" y="4521895"/>
            <a:ext cx="892683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580" kern="0" spc="23" dirty="0">
                <a:solidFill>
                  <a:srgbClr val="F97316">
                    <a:alpha val="88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“</a:t>
            </a:r>
            <a:r>
              <a:rPr lang="en-US" sz="1130" kern="0" spc="23" dirty="0">
                <a:solidFill>
                  <a:srgbClr val="FFF5EB">
                    <a:alpha val="88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 A warm, guided way to create what's yours. </a:t>
            </a:r>
            <a:r>
              <a:rPr lang="en-US" sz="1580" kern="0" spc="23" dirty="0">
                <a:solidFill>
                  <a:srgbClr val="F97316">
                    <a:alpha val="88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”</a:t>
            </a:r>
            <a:endParaRPr lang="en-US" sz="113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0148CC75-B581-C566-64C6-53184197ECD1}"/>
              </a:ext>
            </a:extLst>
          </p:cNvPr>
          <p:cNvSpPr/>
          <p:nvPr/>
        </p:nvSpPr>
        <p:spPr>
          <a:xfrm>
            <a:off x="571500" y="434653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40" y="-234950"/>
            <a:ext cx="7858720" cy="5378449"/>
          </a:xfrm>
          <a:prstGeom prst="rect">
            <a:avLst/>
          </a:prstGeom>
          <a:gradFill rotWithShape="1">
            <a:gsLst>
              <a:gs pos="0">
                <a:srgbClr val="F97316">
                  <a:alpha val="32000"/>
                </a:srgbClr>
              </a:gs>
              <a:gs pos="50000">
                <a:srgbClr val="FBBF24">
                  <a:alpha val="1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gradFill rotWithShape="1">
            <a:gsLst>
              <a:gs pos="0">
                <a:srgbClr val="140600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F97316">
                  <a:alpha val="25000"/>
                </a:srgbClr>
              </a:gs>
              <a:gs pos="70000">
                <a:srgbClr val="F97316">
                  <a:alpha val="50000"/>
                </a:srgbClr>
              </a:gs>
              <a:gs pos="100000">
                <a:srgbClr val="F97316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22420" y="0"/>
            <a:ext cx="2158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40000">
                <a:srgbClr val="F97316">
                  <a:alpha val="25000"/>
                </a:srgbClr>
              </a:gs>
              <a:gs pos="70000">
                <a:srgbClr val="F97316">
                  <a:alpha val="50000"/>
                </a:srgbClr>
              </a:gs>
              <a:gs pos="100000">
                <a:srgbClr val="F97316">
                  <a:alpha val="1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295450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67075" y="1295450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7425" y="1295450"/>
            <a:ext cx="2609850" cy="21580"/>
          </a:xfrm>
          <a:custGeom>
            <a:avLst/>
            <a:gdLst/>
            <a:ahLst/>
            <a:cxnLst/>
            <a:rect l="l" t="t" r="r" b="b"/>
            <a:pathLst>
              <a:path w="2609850" h="21580">
                <a:moveTo>
                  <a:pt x="114300" y="0"/>
                </a:moveTo>
                <a:lnTo>
                  <a:pt x="2495550" y="0"/>
                </a:lnTo>
                <a:lnTo>
                  <a:pt x="2520235" y="2698"/>
                </a:lnTo>
                <a:lnTo>
                  <a:pt x="2530251" y="5395"/>
                </a:lnTo>
                <a:lnTo>
                  <a:pt x="2537793" y="8093"/>
                </a:lnTo>
                <a:lnTo>
                  <a:pt x="2544029" y="10790"/>
                </a:lnTo>
                <a:lnTo>
                  <a:pt x="2549414" y="13488"/>
                </a:lnTo>
                <a:lnTo>
                  <a:pt x="2554184" y="16185"/>
                </a:lnTo>
                <a:lnTo>
                  <a:pt x="2558478" y="18883"/>
                </a:lnTo>
                <a:lnTo>
                  <a:pt x="256238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9731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431750"/>
            <a:ext cx="200620" cy="1012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36507" y="431750"/>
            <a:ext cx="1286466" cy="1012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8811" y="372070"/>
            <a:ext cx="95813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PATHS</a:t>
            </a:r>
            <a:endParaRPr lang="en-US" sz="900" spc="300" dirty="0"/>
          </a:p>
        </p:txBody>
      </p:sp>
      <p:sp>
        <p:nvSpPr>
          <p:cNvPr id="15" name="Text 13"/>
          <p:cNvSpPr/>
          <p:nvPr/>
        </p:nvSpPr>
        <p:spPr>
          <a:xfrm>
            <a:off x="457200" y="623342"/>
            <a:ext cx="809372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spcBef>
                <a:spcPts val="560"/>
              </a:spcBef>
              <a:buNone/>
            </a:pPr>
            <a:r>
              <a:rPr lang="en-US" sz="2250" b="1" kern="0" spc="-22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Three roads. </a:t>
            </a:r>
            <a:r>
              <a:rPr lang="en-US" sz="2250" kern="0" spc="-22" dirty="0">
                <a:solidFill>
                  <a:srgbClr val="FBBF7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One destination: </a:t>
            </a:r>
            <a:r>
              <a:rPr lang="en-US" sz="2250" b="1" i="1" kern="0" spc="-22" dirty="0">
                <a:solidFill>
                  <a:srgbClr val="FBBF7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sovereignty.</a:t>
            </a:r>
            <a:endParaRPr lang="en-US" sz="2250" dirty="0">
              <a:solidFill>
                <a:srgbClr val="FBBF7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1285925"/>
            <a:ext cx="2628900" cy="2701676"/>
          </a:xfrm>
          <a:prstGeom prst="roundRect">
            <a:avLst>
              <a:gd name="adj" fmla="val 4348"/>
            </a:avLst>
          </a:prstGeom>
          <a:gradFill rotWithShape="1">
            <a:gsLst>
              <a:gs pos="0">
                <a:srgbClr val="6B3008"/>
              </a:gs>
              <a:gs pos="100000">
                <a:srgbClr val="4E2000"/>
              </a:gs>
            </a:gsLst>
            <a:lin ang="4200000" scaled="1"/>
          </a:gradFill>
          <a:ln w="9525">
            <a:solidFill>
              <a:srgbClr val="F9731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7345" y="15240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8073" y="1634778"/>
            <a:ext cx="150465" cy="15046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7345" y="2039590"/>
            <a:ext cx="4639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F97316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PATH 01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667345" y="2200771"/>
            <a:ext cx="804034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spcAft>
                <a:spcPts val="680"/>
              </a:spcAft>
              <a:buNone/>
            </a:pPr>
            <a:r>
              <a:rPr lang="en-US" sz="1460" b="1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RootPath</a:t>
            </a:r>
            <a:endParaRPr lang="en-US" sz="1460" dirty="0"/>
          </a:p>
        </p:txBody>
      </p:sp>
      <p:sp>
        <p:nvSpPr>
          <p:cNvPr id="21" name="Text 18"/>
          <p:cNvSpPr/>
          <p:nvPr/>
        </p:nvSpPr>
        <p:spPr>
          <a:xfrm>
            <a:off x="667345" y="2500213"/>
            <a:ext cx="257770" cy="13841"/>
          </a:xfrm>
          <a:prstGeom prst="roundRect">
            <a:avLst>
              <a:gd name="adj" fmla="val 100932"/>
            </a:avLst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67345" y="2588964"/>
            <a:ext cx="2252782" cy="7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840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the home-based micro business builder. Start where you are. Build from the root up.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808930" y="3765399"/>
            <a:ext cx="196596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730" i="1" dirty="0">
                <a:solidFill>
                  <a:srgbClr val="F97316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Start where you are.  Build from the root up.</a:t>
            </a:r>
            <a:endParaRPr lang="en-US" sz="730" dirty="0"/>
          </a:p>
        </p:txBody>
      </p:sp>
      <p:sp>
        <p:nvSpPr>
          <p:cNvPr id="24" name="Text 21"/>
          <p:cNvSpPr/>
          <p:nvPr/>
        </p:nvSpPr>
        <p:spPr>
          <a:xfrm>
            <a:off x="3257550" y="1285925"/>
            <a:ext cx="2628900" cy="2701676"/>
          </a:xfrm>
          <a:prstGeom prst="roundRect">
            <a:avLst>
              <a:gd name="adj" fmla="val 4348"/>
            </a:avLst>
          </a:prstGeom>
          <a:gradFill rotWithShape="1">
            <a:gsLst>
              <a:gs pos="0">
                <a:srgbClr val="6B3008"/>
              </a:gs>
              <a:gs pos="100000">
                <a:srgbClr val="4E2000"/>
              </a:gs>
            </a:gsLst>
            <a:lin ang="4200000" scaled="1"/>
          </a:gradFill>
          <a:ln w="9525">
            <a:solidFill>
              <a:srgbClr val="F9731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467695" y="15240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8423" y="1634778"/>
            <a:ext cx="150465" cy="15046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467695" y="2039590"/>
            <a:ext cx="4639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F97316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PATH 02</a:t>
            </a:r>
            <a:endParaRPr lang="en-US" sz="620" dirty="0"/>
          </a:p>
        </p:txBody>
      </p:sp>
      <p:sp>
        <p:nvSpPr>
          <p:cNvPr id="28" name="Text 24"/>
          <p:cNvSpPr/>
          <p:nvPr/>
        </p:nvSpPr>
        <p:spPr>
          <a:xfrm>
            <a:off x="3467695" y="2200771"/>
            <a:ext cx="100229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spcAft>
                <a:spcPts val="680"/>
              </a:spcAft>
              <a:buNone/>
            </a:pPr>
            <a:r>
              <a:rPr lang="en-US" sz="1460" b="1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LedgerPath</a:t>
            </a:r>
            <a:endParaRPr lang="en-US" sz="1460" dirty="0"/>
          </a:p>
        </p:txBody>
      </p:sp>
      <p:sp>
        <p:nvSpPr>
          <p:cNvPr id="29" name="Text 25"/>
          <p:cNvSpPr/>
          <p:nvPr/>
        </p:nvSpPr>
        <p:spPr>
          <a:xfrm>
            <a:off x="3467695" y="2500213"/>
            <a:ext cx="257770" cy="13841"/>
          </a:xfrm>
          <a:prstGeom prst="roundRect">
            <a:avLst>
              <a:gd name="adj" fmla="val 100932"/>
            </a:avLst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467695" y="2588964"/>
            <a:ext cx="2252782" cy="7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840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Financial clarity and money systems. Know your numbers. Own your flow.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3541187" y="3763383"/>
            <a:ext cx="196596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730" i="1" dirty="0">
                <a:solidFill>
                  <a:srgbClr val="F97316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Know your numbers.  Own your flow.</a:t>
            </a:r>
            <a:endParaRPr lang="en-US" sz="730" dirty="0"/>
          </a:p>
        </p:txBody>
      </p:sp>
      <p:sp>
        <p:nvSpPr>
          <p:cNvPr id="32" name="Text 28"/>
          <p:cNvSpPr/>
          <p:nvPr/>
        </p:nvSpPr>
        <p:spPr>
          <a:xfrm>
            <a:off x="6057900" y="1285925"/>
            <a:ext cx="2628900" cy="2701676"/>
          </a:xfrm>
          <a:prstGeom prst="roundRect">
            <a:avLst>
              <a:gd name="adj" fmla="val 4348"/>
            </a:avLst>
          </a:prstGeom>
          <a:gradFill rotWithShape="1">
            <a:gsLst>
              <a:gs pos="0">
                <a:srgbClr val="6B3008"/>
              </a:gs>
              <a:gs pos="100000">
                <a:srgbClr val="4E2000"/>
              </a:gs>
            </a:gsLst>
            <a:lin ang="4200000" scaled="1"/>
          </a:gradFill>
          <a:ln w="9525">
            <a:solidFill>
              <a:srgbClr val="F97316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268045" y="152405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8773" y="1634778"/>
            <a:ext cx="150465" cy="15046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68045" y="2039590"/>
            <a:ext cx="46395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24" dirty="0">
                <a:solidFill>
                  <a:srgbClr val="F97316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PATH 03</a:t>
            </a:r>
            <a:endParaRPr lang="en-US" sz="620" dirty="0"/>
          </a:p>
        </p:txBody>
      </p:sp>
      <p:sp>
        <p:nvSpPr>
          <p:cNvPr id="36" name="Text 31"/>
          <p:cNvSpPr/>
          <p:nvPr/>
        </p:nvSpPr>
        <p:spPr>
          <a:xfrm>
            <a:off x="6268045" y="2200771"/>
            <a:ext cx="1167911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9"/>
              </a:lnSpc>
              <a:spcAft>
                <a:spcPts val="680"/>
              </a:spcAft>
              <a:buNone/>
            </a:pPr>
            <a:r>
              <a:rPr lang="en-US" sz="1460" b="1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BoutiquePath</a:t>
            </a:r>
            <a:endParaRPr lang="en-US" sz="1460" dirty="0"/>
          </a:p>
        </p:txBody>
      </p:sp>
      <p:sp>
        <p:nvSpPr>
          <p:cNvPr id="37" name="Text 32"/>
          <p:cNvSpPr/>
          <p:nvPr/>
        </p:nvSpPr>
        <p:spPr>
          <a:xfrm>
            <a:off x="6268045" y="2500213"/>
            <a:ext cx="257770" cy="13841"/>
          </a:xfrm>
          <a:prstGeom prst="roundRect">
            <a:avLst>
              <a:gd name="adj" fmla="val 100932"/>
            </a:avLst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6268045" y="2588964"/>
            <a:ext cx="2252782" cy="76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840" dirty="0">
                <a:solidFill>
                  <a:srgbClr val="FBBF7A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For the creative and retail micro business. Make it beautiful. Make it yours.</a:t>
            </a:r>
            <a:endParaRPr lang="en-US" sz="840" dirty="0"/>
          </a:p>
        </p:txBody>
      </p:sp>
      <p:sp>
        <p:nvSpPr>
          <p:cNvPr id="39" name="Text 34"/>
          <p:cNvSpPr/>
          <p:nvPr/>
        </p:nvSpPr>
        <p:spPr>
          <a:xfrm>
            <a:off x="6358830" y="3761216"/>
            <a:ext cx="196596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2"/>
              </a:lnSpc>
              <a:buNone/>
            </a:pPr>
            <a:r>
              <a:rPr lang="en-US" sz="730" i="1" dirty="0">
                <a:solidFill>
                  <a:srgbClr val="F97316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Make it beautiful.  Make it yours.</a:t>
            </a:r>
            <a:endParaRPr lang="en-US" sz="730" dirty="0"/>
          </a:p>
        </p:txBody>
      </p:sp>
      <p:sp>
        <p:nvSpPr>
          <p:cNvPr id="40" name="Text 35"/>
          <p:cNvSpPr/>
          <p:nvPr/>
        </p:nvSpPr>
        <p:spPr>
          <a:xfrm>
            <a:off x="457200" y="4781848"/>
            <a:ext cx="3985617" cy="7590"/>
          </a:xfrm>
          <a:prstGeom prst="rect">
            <a:avLst/>
          </a:prstGeom>
          <a:gradFill rotWithShape="1">
            <a:gsLst>
              <a:gs pos="0">
                <a:srgbClr val="F97316">
                  <a:alpha val="35000"/>
                </a:srgbClr>
              </a:gs>
              <a:gs pos="100000">
                <a:srgbClr val="F97316">
                  <a:alpha val="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706" y="4719423"/>
            <a:ext cx="132588" cy="1325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701183" y="4781848"/>
            <a:ext cx="3985617" cy="7590"/>
          </a:xfrm>
          <a:prstGeom prst="rect">
            <a:avLst/>
          </a:prstGeom>
          <a:gradFill rotWithShape="1">
            <a:gsLst>
              <a:gs pos="0">
                <a:srgbClr val="F97316">
                  <a:alpha val="35000"/>
                </a:srgbClr>
              </a:gs>
              <a:gs pos="100000">
                <a:srgbClr val="F97316">
                  <a:alpha val="5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AEB75E35-13D9-E67E-C82B-F23F9EDA1304}"/>
              </a:ext>
            </a:extLst>
          </p:cNvPr>
          <p:cNvSpPr/>
          <p:nvPr/>
        </p:nvSpPr>
        <p:spPr>
          <a:xfrm>
            <a:off x="130671" y="4390429"/>
            <a:ext cx="8926830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900" kern="0" spc="23" dirty="0">
                <a:solidFill>
                  <a:srgbClr val="F97316">
                    <a:alpha val="88000"/>
                  </a:srgbClr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Every path leads to the same place — ownership of your work, your time, your life.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05467" y="3524595"/>
            <a:ext cx="1143000" cy="42922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74D87E67-530B-9D9D-8040-913F3FAA369A}"/>
              </a:ext>
            </a:extLst>
          </p:cNvPr>
          <p:cNvSpPr/>
          <p:nvPr/>
        </p:nvSpPr>
        <p:spPr>
          <a:xfrm>
            <a:off x="5121087" y="3519684"/>
            <a:ext cx="1143000" cy="42922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FA9F7FCA-2BC9-BA95-9619-BE3368FE3F24}"/>
              </a:ext>
            </a:extLst>
          </p:cNvPr>
          <p:cNvSpPr/>
          <p:nvPr/>
        </p:nvSpPr>
        <p:spPr>
          <a:xfrm>
            <a:off x="7860548" y="3479268"/>
            <a:ext cx="1143000" cy="42922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low 1"/>
          <p:cNvSpPr/>
          <p:nvPr/>
        </p:nvSpPr>
        <p:spPr>
          <a:xfrm>
            <a:off x="0" y="0"/>
            <a:ext cx="5444162" cy="5143500"/>
          </a:xfrm>
          <a:prstGeom prst="rect">
            <a:avLst/>
          </a:prstGeom>
          <a:gradFill rotWithShape="1">
            <a:gsLst>
              <a:gs pos="0">
                <a:srgbClr val="F97316">
                  <a:alpha val="18000"/>
                </a:srgbClr>
              </a:gs>
              <a:gs pos="45000">
                <a:srgbClr val="F97316">
                  <a:alpha val="8000"/>
                </a:srgbClr>
              </a:gs>
              <a:gs pos="72000">
                <a:srgbClr val="000000">
                  <a:alpha val="0"/>
                </a:srgbClr>
              </a:gs>
            </a:gsLst>
            <a:path path="circle">
              <a:fillToRect l="35000" r="65000" b="100000"/>
            </a:path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1" name="Glow 2"/>
          <p:cNvSpPr/>
          <p:nvPr/>
        </p:nvSpPr>
        <p:spPr>
          <a:xfrm>
            <a:off x="0" y="0"/>
            <a:ext cx="6500000" cy="2314011"/>
          </a:xfrm>
          <a:prstGeom prst="rect">
            <a:avLst/>
          </a:prstGeom>
          <a:gradFill rotWithShape="1">
            <a:gsLst>
              <a:gs pos="0">
                <a:srgbClr val="FDBA74">
                  <a:alpha val="20000"/>
                </a:srgbClr>
              </a:gs>
              <a:gs pos="40000">
                <a:srgbClr val="F9731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40000" r="60000" b="100000"/>
            </a:path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2" name="Streak 1"/>
          <p:cNvSpPr/>
          <p:nvPr/>
        </p:nvSpPr>
        <p:spPr>
          <a:xfrm>
            <a:off x="1422000" y="1428750"/>
            <a:ext cx="700000" cy="371475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3" name="Streak 2"/>
          <p:cNvSpPr/>
          <p:nvPr/>
        </p:nvSpPr>
        <p:spPr>
          <a:xfrm rot="-2160000">
            <a:off x="1000000" y="1600000"/>
            <a:ext cx="580000" cy="3500000"/>
          </a:xfrm>
          <a:prstGeom prst="ellipse">
            <a:avLst/>
          </a:prstGeom>
          <a:gradFill rotWithShape="1">
            <a:gsLst>
              <a:gs pos="0">
                <a:srgbClr val="FFFFFF">
                  <a:alpha val="8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4" name="Streak 3"/>
          <p:cNvSpPr/>
          <p:nvPr/>
        </p:nvSpPr>
        <p:spPr>
          <a:xfrm rot="2160000">
            <a:off x="1800000" y="1600000"/>
            <a:ext cx="580000" cy="3500000"/>
          </a:xfrm>
          <a:prstGeom prst="ellipse">
            <a:avLst/>
          </a:prstGeom>
          <a:gradFill rotWithShape="1">
            <a:gsLst>
              <a:gs pos="0">
                <a:srgbClr val="FFFFFF">
                  <a:alpha val="8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5" name="Streak 4"/>
          <p:cNvSpPr/>
          <p:nvPr/>
        </p:nvSpPr>
        <p:spPr>
          <a:xfrm rot="-4320000">
            <a:off x="400000" y="1900000"/>
            <a:ext cx="500000" cy="3200000"/>
          </a:xfrm>
          <a:prstGeom prst="ellipse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6" name="Streak 5"/>
          <p:cNvSpPr/>
          <p:nvPr/>
        </p:nvSpPr>
        <p:spPr>
          <a:xfrm rot="4320000">
            <a:off x="2600000" y="1900000"/>
            <a:ext cx="500000" cy="3200000"/>
          </a:xfrm>
          <a:prstGeom prst="ellipse">
            <a:avLst/>
          </a:prstGeom>
          <a:gradFill rotWithShape="1">
            <a:gsLst>
              <a:gs pos="0">
                <a:srgbClr val="FFFFFF">
                  <a:alpha val="6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7" name="Shadow L"/>
          <p:cNvSpPr/>
          <p:nvPr/>
        </p:nvSpPr>
        <p:spPr>
          <a:xfrm>
            <a:off x="0" y="0"/>
            <a:ext cx="6000000" cy="5143498"/>
          </a:xfrm>
          <a:prstGeom prst="rect">
            <a:avLst/>
          </a:prstGeom>
          <a:gradFill rotWithShape="1">
            <a:gsLst>
              <a:gs pos="0">
                <a:srgbClr val="B43C00">
                  <a:alpha val="22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100000" t="50000" b="50000"/>
            </a:path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88" name="Shadow R"/>
          <p:cNvSpPr/>
          <p:nvPr/>
        </p:nvSpPr>
        <p:spPr>
          <a:xfrm>
            <a:off x="0" y="0"/>
            <a:ext cx="5500000" cy="5143498"/>
          </a:xfrm>
          <a:prstGeom prst="rect">
            <a:avLst/>
          </a:prstGeom>
          <a:gradFill rotWithShape="1">
            <a:gsLst>
              <a:gs pos="0">
                <a:srgbClr val="B43C00">
                  <a:alpha val="22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t="50000" r="100000" b="50000"/>
            </a:path>
          </a:gradFill>
          <a:ln>
            <a:noFill/>
          </a:ln>
        </p:spPr>
        <p:txBody>
          <a:bodyPr wrap="none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21625" y="1572394"/>
            <a:ext cx="25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971625" y="1572394"/>
            <a:ext cx="22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321625" y="2494680"/>
            <a:ext cx="25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5971625" y="2494680"/>
            <a:ext cx="22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321625" y="3416967"/>
            <a:ext cx="25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5971625" y="3416967"/>
            <a:ext cx="2200000" cy="808732"/>
          </a:xfrm>
          <a:prstGeom prst="roundRect">
            <a:avLst>
              <a:gd name="adj" fmla="val 7417"/>
            </a:avLst>
          </a:prstGeom>
          <a:solidFill>
            <a:srgbClr val="5D2703"/>
          </a:solidFill>
          <a:ln w="9525">
            <a:solidFill>
              <a:srgbClr val="B34B05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 flipV="1">
            <a:off x="0" y="-9278"/>
            <a:ext cx="9102969" cy="5187559"/>
          </a:xfrm>
          <a:prstGeom prst="rect">
            <a:avLst/>
          </a:prstGeom>
          <a:gradFill rotWithShape="1">
            <a:gsLst>
              <a:gs pos="66667">
                <a:srgbClr val="F97316">
                  <a:alpha val="6000"/>
                </a:srgbClr>
              </a:gs>
              <a:gs pos="100000">
                <a:srgbClr val="F97316">
                  <a:alpha val="600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3" name="Text 1"/>
          <p:cNvSpPr/>
          <p:nvPr/>
        </p:nvSpPr>
        <p:spPr>
          <a:xfrm rot="10800000">
            <a:off x="3700000" y="2314010"/>
            <a:ext cx="5444000" cy="2829488"/>
          </a:xfrm>
          <a:prstGeom prst="rect">
            <a:avLst/>
          </a:prstGeom>
          <a:gradFill rotWithShape="1">
            <a:gsLst>
              <a:gs pos="13000">
                <a:srgbClr val="F97316">
                  <a:alpha val="38000"/>
                </a:srgbClr>
              </a:gs>
              <a:gs pos="48000">
                <a:srgbClr val="F97316">
                  <a:alpha val="10000"/>
                </a:srgbClr>
              </a:gs>
              <a:gs pos="68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3521" y="314920"/>
            <a:ext cx="1672630" cy="1986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TOOLBOX</a:t>
            </a:r>
            <a:endParaRPr lang="en-US" sz="900" spc="300" dirty="0"/>
          </a:p>
        </p:txBody>
      </p:sp>
      <p:sp>
        <p:nvSpPr>
          <p:cNvPr id="5" name="Text 3"/>
          <p:cNvSpPr/>
          <p:nvPr/>
        </p:nvSpPr>
        <p:spPr>
          <a:xfrm>
            <a:off x="543521" y="719415"/>
            <a:ext cx="7079454" cy="304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95"/>
              </a:lnSpc>
              <a:buNone/>
            </a:pPr>
            <a:r>
              <a:rPr lang="en-US" sz="2400" b="1" kern="0" spc="-20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Everything needed to build with confidence.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19028" y="1225586"/>
            <a:ext cx="1833920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i="1" dirty="0">
                <a:solidFill>
                  <a:srgbClr val="FBBF7A">
                    <a:alpha val="9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Each Path comes fully equipped: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071625" y="1892790"/>
            <a:ext cx="1635472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Getting Started Checklist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721625" y="1885379"/>
            <a:ext cx="687586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071625" y="2818886"/>
            <a:ext cx="100092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721625" y="2822960"/>
            <a:ext cx="66532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071625" y="3730633"/>
            <a:ext cx="97260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Tracking Sheet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721625" y="3742187"/>
            <a:ext cx="46264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100" b="1" kern="0" spc="10" dirty="0">
                <a:solidFill>
                  <a:srgbClr val="FFF5E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Guides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929215" y="1346689"/>
            <a:ext cx="1319730" cy="1442901"/>
          </a:xfrm>
          <a:prstGeom prst="roundRect">
            <a:avLst>
              <a:gd name="adj" fmla="val 10296"/>
            </a:avLst>
          </a:prstGeom>
          <a:noFill/>
          <a:ln/>
        </p:spPr>
        <p:txBody>
          <a:bodyPr wrap="none" lIns="0" tIns="92710" rIns="0" bIns="9271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130" kern="0" spc="45" dirty="0">
                <a:solidFill>
                  <a:srgbClr val="FBBF7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Not advice.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130" kern="0" spc="45" dirty="0">
                <a:solidFill>
                  <a:srgbClr val="FBBF7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Not inspiration</a:t>
            </a:r>
            <a:r>
              <a:rPr lang="en-US" sz="1130" b="1" kern="0" spc="45" dirty="0">
                <a:solidFill>
                  <a:srgbClr val="FBBF7A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400" b="1" i="1" kern="0" spc="45" dirty="0">
                <a:solidFill>
                  <a:srgbClr val="F97316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Real tools.</a:t>
            </a:r>
            <a:endParaRPr lang="en-US" sz="1130" i="1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384F433E-EBFA-1FDB-EEBA-8F310E0BBC08}"/>
              </a:ext>
            </a:extLst>
          </p:cNvPr>
          <p:cNvSpPr/>
          <p:nvPr/>
        </p:nvSpPr>
        <p:spPr>
          <a:xfrm>
            <a:off x="2069173" y="399452"/>
            <a:ext cx="1286466" cy="1012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Graphic 35" descr="Checklist outline">
            <a:extLst>
              <a:ext uri="{FF2B5EF4-FFF2-40B4-BE49-F238E27FC236}">
                <a16:creationId xmlns:a16="http://schemas.microsoft.com/office/drawing/2014/main" id="{E9994C27-0C61-32D7-DAA5-407D26E05E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6625" y="1719143"/>
            <a:ext cx="457200" cy="457200"/>
          </a:xfrm>
          <a:prstGeom prst="rect">
            <a:avLst/>
          </a:prstGeom>
        </p:spPr>
      </p:pic>
      <p:pic>
        <p:nvPicPr>
          <p:cNvPr id="38" name="Graphic 37" descr="Coins outline">
            <a:extLst>
              <a:ext uri="{FF2B5EF4-FFF2-40B4-BE49-F238E27FC236}">
                <a16:creationId xmlns:a16="http://schemas.microsoft.com/office/drawing/2014/main" id="{681F342A-677F-5FB7-C31F-7936891A4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625" y="2655940"/>
            <a:ext cx="457200" cy="457200"/>
          </a:xfrm>
          <a:prstGeom prst="rect">
            <a:avLst/>
          </a:prstGeom>
        </p:spPr>
      </p:pic>
      <p:pic>
        <p:nvPicPr>
          <p:cNvPr id="42" name="Graphic 41" descr="Upward trend outline">
            <a:extLst>
              <a:ext uri="{FF2B5EF4-FFF2-40B4-BE49-F238E27FC236}">
                <a16:creationId xmlns:a16="http://schemas.microsoft.com/office/drawing/2014/main" id="{51CD9DBC-E18B-E308-D914-6BB4A746B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6625" y="3647024"/>
            <a:ext cx="457200" cy="457200"/>
          </a:xfrm>
          <a:prstGeom prst="rect">
            <a:avLst/>
          </a:prstGeom>
        </p:spPr>
      </p:pic>
      <p:pic>
        <p:nvPicPr>
          <p:cNvPr id="44" name="Graphic 43" descr="Flowchart outline">
            <a:extLst>
              <a:ext uri="{FF2B5EF4-FFF2-40B4-BE49-F238E27FC236}">
                <a16:creationId xmlns:a16="http://schemas.microsoft.com/office/drawing/2014/main" id="{DF6F5CF7-9EA6-4EA1-AE53-F125A32562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625" y="1738809"/>
            <a:ext cx="457200" cy="457200"/>
          </a:xfrm>
          <a:prstGeom prst="rect">
            <a:avLst/>
          </a:prstGeom>
        </p:spPr>
      </p:pic>
      <p:pic>
        <p:nvPicPr>
          <p:cNvPr id="46" name="Graphic 45" descr="Document outline">
            <a:extLst>
              <a:ext uri="{FF2B5EF4-FFF2-40B4-BE49-F238E27FC236}">
                <a16:creationId xmlns:a16="http://schemas.microsoft.com/office/drawing/2014/main" id="{3AC2EFC9-E5C4-F42C-4AD9-1A1EA5A18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625" y="2665176"/>
            <a:ext cx="457200" cy="457200"/>
          </a:xfrm>
          <a:prstGeom prst="rect">
            <a:avLst/>
          </a:prstGeom>
        </p:spPr>
      </p:pic>
      <p:pic>
        <p:nvPicPr>
          <p:cNvPr id="52" name="Graphic 51" descr="Open book outline">
            <a:extLst>
              <a:ext uri="{FF2B5EF4-FFF2-40B4-BE49-F238E27FC236}">
                <a16:creationId xmlns:a16="http://schemas.microsoft.com/office/drawing/2014/main" id="{C3A3C0F2-4E5C-C1D1-4686-51DE3C7D5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625" y="3608496"/>
            <a:ext cx="457200" cy="457200"/>
          </a:xfrm>
          <a:prstGeom prst="rect">
            <a:avLst/>
          </a:prstGeom>
        </p:spPr>
      </p:pic>
      <p:sp>
        <p:nvSpPr>
          <p:cNvPr id="57" name="Text 11">
            <a:extLst>
              <a:ext uri="{FF2B5EF4-FFF2-40B4-BE49-F238E27FC236}">
                <a16:creationId xmlns:a16="http://schemas.microsoft.com/office/drawing/2014/main" id="{948F01CD-07F6-74E1-42C8-1A1A3926A7FA}"/>
              </a:ext>
            </a:extLst>
          </p:cNvPr>
          <p:cNvSpPr/>
          <p:nvPr/>
        </p:nvSpPr>
        <p:spPr>
          <a:xfrm rot="5400000">
            <a:off x="81860" y="2044561"/>
            <a:ext cx="1286466" cy="10120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3714750"/>
            <a:ext cx="9144000" cy="1718868"/>
          </a:xfrm>
          <a:prstGeom prst="rect">
            <a:avLst/>
          </a:prstGeom>
          <a:gradFill rotWithShape="1">
            <a:gsLst>
              <a:gs pos="0">
                <a:srgbClr val="FF8C1E">
                  <a:alpha val="88000"/>
                </a:srgb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/>
          <p:cNvSpPr/>
          <p:nvPr/>
        </p:nvSpPr>
        <p:spPr>
          <a:xfrm rot="10800000">
            <a:off x="0" y="-9049"/>
            <a:ext cx="9144002" cy="5143501"/>
          </a:xfrm>
          <a:prstGeom prst="rect">
            <a:avLst/>
          </a:prstGeom>
          <a:gradFill rotWithShape="1">
            <a:gsLst>
              <a:gs pos="0">
                <a:srgbClr val="FBBF7A">
                  <a:alpha val="55000"/>
                </a:srgbClr>
              </a:gs>
              <a:gs pos="30000">
                <a:srgbClr val="F97316">
                  <a:alpha val="35000"/>
                </a:srgbClr>
              </a:gs>
              <a:gs pos="65000">
                <a:srgbClr val="FF8C28">
                  <a:alpha val="12000"/>
                </a:srgbClr>
              </a:gs>
              <a:gs pos="100000">
                <a:srgbClr val="5C28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3BE1374-3C22-F567-AC4F-4640B3A6345E}"/>
              </a:ext>
            </a:extLst>
          </p:cNvPr>
          <p:cNvSpPr/>
          <p:nvPr/>
        </p:nvSpPr>
        <p:spPr>
          <a:xfrm rot="17468465">
            <a:off x="2491073" y="2971012"/>
            <a:ext cx="201889" cy="2159067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3A8464-8CDF-FDFC-94AF-8E5BFB963777}"/>
              </a:ext>
            </a:extLst>
          </p:cNvPr>
          <p:cNvSpPr/>
          <p:nvPr/>
        </p:nvSpPr>
        <p:spPr>
          <a:xfrm rot="4363367">
            <a:off x="5757249" y="3006345"/>
            <a:ext cx="248841" cy="3796477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35000"/>
                </a:srgbClr>
              </a:gs>
              <a:gs pos="13000">
                <a:srgbClr val="FF8C28">
                  <a:alpha val="52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7454E13-9B2F-0362-E556-04A1E2D8440F}"/>
              </a:ext>
            </a:extLst>
          </p:cNvPr>
          <p:cNvSpPr/>
          <p:nvPr/>
        </p:nvSpPr>
        <p:spPr>
          <a:xfrm rot="1614215">
            <a:off x="5049926" y="2451438"/>
            <a:ext cx="778797" cy="2681841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25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10B8DE4-7E77-946F-7314-2608678D427B}"/>
              </a:ext>
            </a:extLst>
          </p:cNvPr>
          <p:cNvSpPr/>
          <p:nvPr/>
        </p:nvSpPr>
        <p:spPr>
          <a:xfrm rot="386867">
            <a:off x="4609990" y="2320644"/>
            <a:ext cx="411156" cy="2822856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471BD4-8B85-8B84-91F6-D062C1234DC1}"/>
              </a:ext>
            </a:extLst>
          </p:cNvPr>
          <p:cNvSpPr/>
          <p:nvPr/>
        </p:nvSpPr>
        <p:spPr>
          <a:xfrm rot="21216831">
            <a:off x="3955573" y="2154923"/>
            <a:ext cx="676943" cy="2988577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280495B-079D-78E2-B2D5-8D37D039D966}"/>
              </a:ext>
            </a:extLst>
          </p:cNvPr>
          <p:cNvSpPr/>
          <p:nvPr/>
        </p:nvSpPr>
        <p:spPr>
          <a:xfrm rot="20443469">
            <a:off x="3502555" y="2673742"/>
            <a:ext cx="492242" cy="2471795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18822D-904A-405B-4EEB-2709A93772E9}"/>
              </a:ext>
            </a:extLst>
          </p:cNvPr>
          <p:cNvSpPr/>
          <p:nvPr/>
        </p:nvSpPr>
        <p:spPr>
          <a:xfrm rot="19652310">
            <a:off x="3076290" y="2580766"/>
            <a:ext cx="411756" cy="2562734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8364679-30A2-7C3E-7E68-3BA56EF6A650}"/>
              </a:ext>
            </a:extLst>
          </p:cNvPr>
          <p:cNvSpPr/>
          <p:nvPr/>
        </p:nvSpPr>
        <p:spPr>
          <a:xfrm rot="2917756">
            <a:off x="5821346" y="2613436"/>
            <a:ext cx="505732" cy="2530064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FD66F77-3D23-7F99-4722-E21C36E05446}"/>
              </a:ext>
            </a:extLst>
          </p:cNvPr>
          <p:cNvSpPr/>
          <p:nvPr/>
        </p:nvSpPr>
        <p:spPr>
          <a:xfrm rot="16598170">
            <a:off x="3795343" y="2496932"/>
            <a:ext cx="414022" cy="5204799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B8511CB-62EC-A84F-13E9-C7E990D95DF9}"/>
              </a:ext>
            </a:extLst>
          </p:cNvPr>
          <p:cNvSpPr/>
          <p:nvPr/>
        </p:nvSpPr>
        <p:spPr>
          <a:xfrm rot="17928311">
            <a:off x="2426207" y="2385541"/>
            <a:ext cx="408290" cy="3567169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2B73E7-7E5E-77F3-B3FB-DCD41DDB45D9}"/>
              </a:ext>
            </a:extLst>
          </p:cNvPr>
          <p:cNvSpPr/>
          <p:nvPr/>
        </p:nvSpPr>
        <p:spPr>
          <a:xfrm rot="18463770">
            <a:off x="2799803" y="2481624"/>
            <a:ext cx="495538" cy="3222270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1D9C84F-D1C9-9A71-92AC-748FC5EEE83F}"/>
              </a:ext>
            </a:extLst>
          </p:cNvPr>
          <p:cNvSpPr/>
          <p:nvPr/>
        </p:nvSpPr>
        <p:spPr>
          <a:xfrm rot="3948046">
            <a:off x="5830092" y="1862114"/>
            <a:ext cx="529690" cy="5049533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607A68B-744D-9695-EE19-1414FF41CE95}"/>
              </a:ext>
            </a:extLst>
          </p:cNvPr>
          <p:cNvSpPr/>
          <p:nvPr/>
        </p:nvSpPr>
        <p:spPr>
          <a:xfrm rot="5010966">
            <a:off x="5362776" y="2799057"/>
            <a:ext cx="389383" cy="4577062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30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21277" y="307628"/>
            <a:ext cx="4150723" cy="1751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TRANSFORMATION</a:t>
            </a:r>
            <a:endParaRPr lang="en-US" sz="900" spc="300" dirty="0"/>
          </a:p>
        </p:txBody>
      </p:sp>
      <p:sp>
        <p:nvSpPr>
          <p:cNvPr id="6" name="Text 3"/>
          <p:cNvSpPr/>
          <p:nvPr/>
        </p:nvSpPr>
        <p:spPr>
          <a:xfrm>
            <a:off x="514350" y="547241"/>
            <a:ext cx="868337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92"/>
              </a:lnSpc>
              <a:spcBef>
                <a:spcPts val="450"/>
              </a:spcBef>
              <a:buNone/>
            </a:pPr>
            <a:r>
              <a:rPr lang="en-US" sz="1910" kern="0" spc="19" dirty="0">
                <a:solidFill>
                  <a:srgbClr val="FFF5EB"/>
                </a:solidFill>
                <a:latin typeface="Constantia" pitchFamily="34" charset="0"/>
                <a:ea typeface="Constantia" pitchFamily="34" charset="-122"/>
                <a:cs typeface="Constantia" pitchFamily="34" charset="-120"/>
              </a:rPr>
              <a:t>The journey SolFound makes possible.</a:t>
            </a:r>
            <a:endParaRPr lang="en-US" sz="1910" dirty="0"/>
          </a:p>
        </p:txBody>
      </p:sp>
      <p:sp>
        <p:nvSpPr>
          <p:cNvPr id="7" name="Text 4"/>
          <p:cNvSpPr/>
          <p:nvPr/>
        </p:nvSpPr>
        <p:spPr>
          <a:xfrm>
            <a:off x="514350" y="977500"/>
            <a:ext cx="457200" cy="13841"/>
          </a:xfrm>
          <a:prstGeom prst="roundRect">
            <a:avLst>
              <a:gd name="adj" fmla="val 100932"/>
            </a:avLst>
          </a:prstGeom>
          <a:solidFill>
            <a:srgbClr val="F97316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838984" y="4718563"/>
            <a:ext cx="1828800" cy="10120"/>
          </a:xfrm>
          <a:prstGeom prst="roundRect">
            <a:avLst>
              <a:gd name="adj" fmla="val 138044"/>
            </a:avLst>
          </a:prstGeom>
          <a:solidFill>
            <a:srgbClr val="F97316">
              <a:alpha val="60000"/>
            </a:srgbClr>
          </a:solidFill>
          <a:ln>
            <a:solidFill>
              <a:srgbClr val="B34B05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>
              <a:solidFill>
                <a:srgbClr val="5D2703"/>
              </a:solidFill>
            </a:endParaRPr>
          </a:p>
        </p:txBody>
      </p:sp>
      <p:sp>
        <p:nvSpPr>
          <p:cNvPr id="49" name="Text 41"/>
          <p:cNvSpPr/>
          <p:nvPr/>
        </p:nvSpPr>
        <p:spPr>
          <a:xfrm>
            <a:off x="436112" y="4477853"/>
            <a:ext cx="2838450" cy="1890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Each step is a doorway. The </a:t>
            </a:r>
            <a:r>
              <a:rPr kumimoji="0" lang="en-US" sz="900" b="1" i="1" u="none" strike="noStrike" kern="1200" cap="none" spc="0" normalizeH="0" baseline="0" noProof="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final</a:t>
            </a: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 one opens into the light.</a:t>
            </a:r>
          </a:p>
        </p:txBody>
      </p:sp>
      <p:sp>
        <p:nvSpPr>
          <p:cNvPr id="50" name="Card 1">
            <a:extLst>
              <a:ext uri="{FF2B5EF4-FFF2-40B4-BE49-F238E27FC236}">
                <a16:creationId xmlns:a16="http://schemas.microsoft.com/office/drawing/2014/main" id="{5849D9EF-6905-6BFF-6E9E-1A15CE52FF98}"/>
              </a:ext>
            </a:extLst>
          </p:cNvPr>
          <p:cNvSpPr/>
          <p:nvPr/>
        </p:nvSpPr>
        <p:spPr>
          <a:xfrm>
            <a:off x="430671" y="1334109"/>
            <a:ext cx="1920000" cy="2147124"/>
          </a:xfrm>
          <a:prstGeom prst="roundRect">
            <a:avLst>
              <a:gd name="adj" fmla="val 5000"/>
            </a:avLst>
          </a:prstGeom>
          <a:solidFill>
            <a:srgbClr val="FBBF7A">
              <a:alpha val="57000"/>
            </a:srgbClr>
          </a:solidFill>
          <a:ln w="12700">
            <a:noFill/>
          </a:ln>
          <a:effectLst/>
        </p:spPr>
        <p:txBody>
          <a:bodyPr wrap="square" lIns="137160" tIns="45720" rIns="13716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500" b="0" i="0" kern="1200" dirty="0">
                <a:ln>
                  <a:noFill/>
                </a:ln>
                <a:solidFill>
                  <a:srgbClr val="F97316">
                    <a:alpha val="70000"/>
                  </a:srgb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700" b="1" i="0" kern="1200" spc="25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STEP 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FROM</a:t>
            </a:r>
          </a:p>
          <a:p>
            <a:pPr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00" b="0" i="1" kern="120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Dependence</a:t>
            </a:r>
          </a:p>
          <a:p>
            <a:pPr algn="ctr">
              <a:spcBef>
                <a:spcPts val="50"/>
              </a:spcBef>
              <a:spcAft>
                <a:spcPts val="150"/>
              </a:spcAft>
              <a:buNone/>
            </a:pPr>
            <a:r>
              <a:rPr lang="en-US" sz="1200" b="0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TO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Capability</a:t>
            </a:r>
          </a:p>
        </p:txBody>
      </p:sp>
      <p:sp>
        <p:nvSpPr>
          <p:cNvPr id="51" name="Card 2">
            <a:extLst>
              <a:ext uri="{FF2B5EF4-FFF2-40B4-BE49-F238E27FC236}">
                <a16:creationId xmlns:a16="http://schemas.microsoft.com/office/drawing/2014/main" id="{8ED3F5E8-53DD-8C30-BE61-6C1B0DAE2C89}"/>
              </a:ext>
            </a:extLst>
          </p:cNvPr>
          <p:cNvSpPr/>
          <p:nvPr/>
        </p:nvSpPr>
        <p:spPr>
          <a:xfrm>
            <a:off x="2552000" y="1347950"/>
            <a:ext cx="1920000" cy="2147124"/>
          </a:xfrm>
          <a:prstGeom prst="roundRect">
            <a:avLst>
              <a:gd name="adj" fmla="val 5000"/>
            </a:avLst>
          </a:prstGeom>
          <a:solidFill>
            <a:srgbClr val="FBBF7A">
              <a:alpha val="57000"/>
            </a:srgbClr>
          </a:solidFill>
          <a:ln w="12700">
            <a:noFill/>
          </a:ln>
          <a:effectLst/>
        </p:spPr>
        <p:txBody>
          <a:bodyPr wrap="square" lIns="137160" tIns="45720" rIns="13716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500" b="0" i="0" kern="1200" dirty="0">
                <a:ln>
                  <a:noFill/>
                </a:ln>
                <a:solidFill>
                  <a:srgbClr val="F97316">
                    <a:alpha val="70000"/>
                  </a:srgb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700" b="1" i="0" kern="1200" spc="25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STEP 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FROM</a:t>
            </a:r>
          </a:p>
          <a:p>
            <a:pPr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00" b="0" i="1" kern="120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Shadows</a:t>
            </a:r>
          </a:p>
          <a:p>
            <a:pPr algn="ctr">
              <a:spcBef>
                <a:spcPts val="50"/>
              </a:spcBef>
              <a:spcAft>
                <a:spcPts val="150"/>
              </a:spcAft>
              <a:buNone/>
            </a:pPr>
            <a:r>
              <a:rPr lang="en-US" sz="1200" b="0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TO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Light</a:t>
            </a:r>
          </a:p>
        </p:txBody>
      </p:sp>
      <p:sp>
        <p:nvSpPr>
          <p:cNvPr id="52" name="Card 3">
            <a:extLst>
              <a:ext uri="{FF2B5EF4-FFF2-40B4-BE49-F238E27FC236}">
                <a16:creationId xmlns:a16="http://schemas.microsoft.com/office/drawing/2014/main" id="{90065254-94C8-1087-B033-0259F384A609}"/>
              </a:ext>
            </a:extLst>
          </p:cNvPr>
          <p:cNvSpPr/>
          <p:nvPr/>
        </p:nvSpPr>
        <p:spPr>
          <a:xfrm>
            <a:off x="4672000" y="1347950"/>
            <a:ext cx="1920000" cy="2147124"/>
          </a:xfrm>
          <a:prstGeom prst="roundRect">
            <a:avLst>
              <a:gd name="adj" fmla="val 5000"/>
            </a:avLst>
          </a:prstGeom>
          <a:solidFill>
            <a:srgbClr val="FBBF7A">
              <a:alpha val="57000"/>
            </a:srgbClr>
          </a:solidFill>
          <a:ln w="12700">
            <a:noFill/>
          </a:ln>
          <a:effectLst/>
        </p:spPr>
        <p:txBody>
          <a:bodyPr wrap="square" lIns="137160" tIns="45720" rIns="13716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500" b="0" i="0" kern="1200" dirty="0">
                <a:ln>
                  <a:noFill/>
                </a:ln>
                <a:solidFill>
                  <a:srgbClr val="F97316">
                    <a:alpha val="70000"/>
                  </a:srgb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●</a:t>
            </a:r>
          </a:p>
          <a:p>
            <a:pPr algn="ctr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700" b="1" i="0" kern="1200" spc="25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STEP 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FROM</a:t>
            </a:r>
          </a:p>
          <a:p>
            <a:pPr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100" b="0" i="1" kern="120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Climbing</a:t>
            </a:r>
          </a:p>
          <a:p>
            <a:pPr algn="ctr">
              <a:spcBef>
                <a:spcPts val="50"/>
              </a:spcBef>
              <a:spcAft>
                <a:spcPts val="150"/>
              </a:spcAft>
              <a:buNone/>
            </a:pPr>
            <a:r>
              <a:rPr lang="en-US" sz="1200" b="0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TO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 i="0" kern="1200" dirty="0">
                <a:ln>
                  <a:noFill/>
                </a:ln>
                <a:solidFill>
                  <a:srgbClr val="B34B05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Creating</a:t>
            </a:r>
          </a:p>
        </p:txBody>
      </p:sp>
      <p:sp>
        <p:nvSpPr>
          <p:cNvPr id="53" name="Card 4">
            <a:extLst>
              <a:ext uri="{FF2B5EF4-FFF2-40B4-BE49-F238E27FC236}">
                <a16:creationId xmlns:a16="http://schemas.microsoft.com/office/drawing/2014/main" id="{C95879F6-8AA8-8F9A-7424-6C0200AC3F8E}"/>
              </a:ext>
            </a:extLst>
          </p:cNvPr>
          <p:cNvSpPr/>
          <p:nvPr/>
        </p:nvSpPr>
        <p:spPr>
          <a:xfrm>
            <a:off x="6792000" y="1347950"/>
            <a:ext cx="1920000" cy="2147124"/>
          </a:xfrm>
          <a:prstGeom prst="roundRect">
            <a:avLst>
              <a:gd name="adj" fmla="val 5000"/>
            </a:avLst>
          </a:prstGeom>
          <a:solidFill>
            <a:srgbClr val="FBBF7A">
              <a:alpha val="57000"/>
            </a:srgbClr>
          </a:solidFill>
          <a:ln w="19050">
            <a:solidFill>
              <a:srgbClr val="F97316">
                <a:alpha val="50000"/>
              </a:srgb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320000" algn="ctr" rotWithShape="0">
              <a:srgbClr val="F97316">
                <a:alpha val="22000"/>
              </a:srgbClr>
            </a:outerShdw>
          </a:effectLst>
        </p:spPr>
        <p:txBody>
          <a:bodyPr wrap="square" lIns="137160" tIns="45720" rIns="13716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endParaRPr lang="en-US" sz="800" b="0" i="0" kern="1200" dirty="0">
              <a:ln>
                <a:noFill/>
              </a:ln>
              <a:solidFill>
                <a:srgbClr val="F97316"/>
              </a:solidFill>
              <a:effectLst/>
              <a:uLnTx/>
              <a:uFillTx/>
              <a:latin typeface="Corbel" pitchFamily="34" charset="0"/>
              <a:ea typeface="Corbel" pitchFamily="34" charset="-122"/>
              <a:cs typeface="Corbel" pitchFamily="34" charset="-120"/>
            </a:endParaRPr>
          </a:p>
          <a:p>
            <a:pPr algn="ctr">
              <a:spcBef>
                <a:spcPts val="0"/>
              </a:spcBef>
              <a:spcAft>
                <a:spcPts val="250"/>
              </a:spcAft>
              <a:buNone/>
            </a:pPr>
            <a:r>
              <a:rPr lang="en-US" sz="700" b="1" i="0" kern="1200" spc="25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STEP 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FROM</a:t>
            </a:r>
          </a:p>
          <a:p>
            <a:pPr algn="ctr">
              <a:spcBef>
                <a:spcPts val="0"/>
              </a:spcBef>
              <a:spcAft>
                <a:spcPts val="150"/>
              </a:spcAft>
              <a:buNone/>
            </a:pPr>
            <a:r>
              <a:rPr lang="en-US" sz="1200" b="0" i="1" kern="1200" dirty="0">
                <a:ln>
                  <a:noFill/>
                </a:ln>
                <a:solidFill>
                  <a:srgbClr val="5D2703"/>
                </a:solidFill>
                <a:effectLst/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Survival</a:t>
            </a:r>
          </a:p>
          <a:p>
            <a:pPr algn="ctr">
              <a:spcBef>
                <a:spcPts val="50"/>
              </a:spcBef>
              <a:spcAft>
                <a:spcPts val="150"/>
              </a:spcAft>
              <a:buNone/>
            </a:pPr>
            <a:r>
              <a:rPr lang="en-US" sz="1600" b="0" i="0" kern="1200" dirty="0">
                <a:ln>
                  <a:noFill/>
                </a:ln>
                <a:solidFill>
                  <a:srgbClr val="B34B05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▼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200" spc="150" dirty="0">
                <a:ln>
                  <a:noFill/>
                </a:ln>
                <a:solidFill>
                  <a:srgbClr val="B34B05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rbel" pitchFamily="34" charset="0"/>
                <a:ea typeface="Corbel" pitchFamily="34" charset="-122"/>
                <a:cs typeface="Corbel" pitchFamily="34" charset="-120"/>
              </a:rPr>
              <a:t>TO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i="0" kern="1200" dirty="0">
                <a:ln>
                  <a:noFill/>
                </a:ln>
                <a:solidFill>
                  <a:srgbClr val="B34B05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tantia" pitchFamily="34" charset="0"/>
                <a:ea typeface="Constantia" pitchFamily="34" charset="-122"/>
                <a:cs typeface="Constantia" pitchFamily="34" charset="-120"/>
              </a:rPr>
              <a:t>Sovereignty</a:t>
            </a:r>
          </a:p>
        </p:txBody>
      </p:sp>
      <p:sp>
        <p:nvSpPr>
          <p:cNvPr id="54" name="Connector 1">
            <a:extLst>
              <a:ext uri="{FF2B5EF4-FFF2-40B4-BE49-F238E27FC236}">
                <a16:creationId xmlns:a16="http://schemas.microsoft.com/office/drawing/2014/main" id="{1EB090DA-FDEF-6630-E558-D93EAB9E27D2}"/>
              </a:ext>
            </a:extLst>
          </p:cNvPr>
          <p:cNvSpPr/>
          <p:nvPr/>
        </p:nvSpPr>
        <p:spPr>
          <a:xfrm>
            <a:off x="2352000" y="2576499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>
                <a:solidFill>
                  <a:srgbClr val="F97316">
                    <a:alpha val="45000"/>
                  </a:srgbClr>
                </a:solidFill>
                <a:latin typeface="Corbel" pitchFamily="34" charset="0"/>
              </a:rPr>
              <a:t>›</a:t>
            </a:r>
          </a:p>
        </p:txBody>
      </p:sp>
      <p:sp>
        <p:nvSpPr>
          <p:cNvPr id="55" name="Connector 2">
            <a:extLst>
              <a:ext uri="{FF2B5EF4-FFF2-40B4-BE49-F238E27FC236}">
                <a16:creationId xmlns:a16="http://schemas.microsoft.com/office/drawing/2014/main" id="{BF835DE8-1951-65B2-BE05-AECD43E79CBF}"/>
              </a:ext>
            </a:extLst>
          </p:cNvPr>
          <p:cNvSpPr/>
          <p:nvPr/>
        </p:nvSpPr>
        <p:spPr>
          <a:xfrm>
            <a:off x="4472000" y="2576499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>
                <a:solidFill>
                  <a:srgbClr val="F97316">
                    <a:alpha val="45000"/>
                  </a:srgbClr>
                </a:solidFill>
                <a:latin typeface="Corbel" pitchFamily="34" charset="0"/>
              </a:rPr>
              <a:t>›</a:t>
            </a:r>
          </a:p>
        </p:txBody>
      </p:sp>
      <p:sp>
        <p:nvSpPr>
          <p:cNvPr id="56" name="Connector 3">
            <a:extLst>
              <a:ext uri="{FF2B5EF4-FFF2-40B4-BE49-F238E27FC236}">
                <a16:creationId xmlns:a16="http://schemas.microsoft.com/office/drawing/2014/main" id="{C46F9CC1-61C2-DD65-4168-0E8DDD963272}"/>
              </a:ext>
            </a:extLst>
          </p:cNvPr>
          <p:cNvSpPr/>
          <p:nvPr/>
        </p:nvSpPr>
        <p:spPr>
          <a:xfrm>
            <a:off x="6592000" y="2576499"/>
            <a:ext cx="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600" b="0" dirty="0">
                <a:solidFill>
                  <a:srgbClr val="F97316">
                    <a:alpha val="60000"/>
                  </a:srgbClr>
                </a:solidFill>
                <a:latin typeface="Corbel" pitchFamily="34" charset="0"/>
              </a:rPr>
              <a:t>›</a:t>
            </a:r>
          </a:p>
        </p:txBody>
      </p:sp>
      <p:sp>
        <p:nvSpPr>
          <p:cNvPr id="68" name="Dot">
            <a:extLst>
              <a:ext uri="{FF2B5EF4-FFF2-40B4-BE49-F238E27FC236}">
                <a16:creationId xmlns:a16="http://schemas.microsoft.com/office/drawing/2014/main" id="{78F8E363-C04C-BA18-24F0-81FF9A374060}"/>
              </a:ext>
            </a:extLst>
          </p:cNvPr>
          <p:cNvSpPr/>
          <p:nvPr/>
        </p:nvSpPr>
        <p:spPr>
          <a:xfrm>
            <a:off x="3810440" y="4466827"/>
            <a:ext cx="1367906" cy="1365149"/>
          </a:xfrm>
          <a:prstGeom prst="ellipse">
            <a:avLst/>
          </a:prstGeom>
          <a:solidFill>
            <a:srgbClr val="FBBF7A">
              <a:alpha val="18000"/>
            </a:srgbClr>
          </a:solidFill>
          <a:ln/>
          <a:effectLst>
            <a:outerShdw blurRad="254000" dist="50800" dir="16200000" algn="bl" rotWithShape="0">
              <a:srgbClr val="F97316">
                <a:alpha val="5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FCBAFD8-71D2-F31F-1853-80D93638C838}"/>
              </a:ext>
            </a:extLst>
          </p:cNvPr>
          <p:cNvSpPr/>
          <p:nvPr/>
        </p:nvSpPr>
        <p:spPr>
          <a:xfrm rot="17166539">
            <a:off x="2784026" y="2009006"/>
            <a:ext cx="381948" cy="5468448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C56215A-B40E-FCBF-418C-18CFEAF4D525}"/>
              </a:ext>
            </a:extLst>
          </p:cNvPr>
          <p:cNvSpPr/>
          <p:nvPr/>
        </p:nvSpPr>
        <p:spPr>
          <a:xfrm rot="4648764">
            <a:off x="6147622" y="2123788"/>
            <a:ext cx="381948" cy="5049533"/>
          </a:xfrm>
          <a:prstGeom prst="rect">
            <a:avLst/>
          </a:prstGeom>
          <a:gradFill flip="none" rotWithShape="1">
            <a:gsLst>
              <a:gs pos="95000">
                <a:schemeClr val="bg1">
                  <a:alpha val="0"/>
                </a:schemeClr>
              </a:gs>
              <a:gs pos="67000">
                <a:srgbClr val="F97316">
                  <a:alpha val="15000"/>
                </a:srgbClr>
              </a:gs>
              <a:gs pos="13000">
                <a:srgbClr val="FF8C28">
                  <a:alpha val="20000"/>
                </a:srgbClr>
              </a:gs>
            </a:gsLst>
            <a:lin ang="5400000" scaled="1"/>
            <a:tileRect/>
          </a:gradFill>
          <a:ln>
            <a:noFill/>
          </a:ln>
          <a:effectLst>
            <a:softEdge rad="152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97316"/>
              </a:gs>
              <a:gs pos="28000">
                <a:srgbClr val="FB923C"/>
              </a:gs>
              <a:gs pos="52000">
                <a:srgbClr val="FDBA74"/>
              </a:gs>
              <a:gs pos="74000">
                <a:srgbClr val="FDE8C8"/>
              </a:gs>
              <a:gs pos="100000">
                <a:srgbClr val="FFF5EB"/>
              </a:gs>
            </a:gsLst>
            <a:path path="circle">
              <a:fillToRect l="50000" t="-10000" r="50000" b="11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43C00">
                  <a:alpha val="28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l="100000" t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43C00">
                  <a:alpha val="28000"/>
                </a:srgbClr>
              </a:gs>
              <a:gs pos="55000">
                <a:srgbClr val="000000">
                  <a:alpha val="0"/>
                </a:srgbClr>
              </a:gs>
            </a:gsLst>
            <a:path path="circle">
              <a:fillToRect t="50000" r="10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6000">
                <a:srgbClr val="8C2800">
                  <a:alpha val="38000"/>
                </a:srgbClr>
              </a:gs>
              <a:gs pos="64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 rot="-3720000">
            <a:off x="4327064" y="1428750"/>
            <a:ext cx="642491" cy="371475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 rot="-2760000">
            <a:off x="4327064" y="1714500"/>
            <a:ext cx="500360" cy="34290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 rot="-1800000">
            <a:off x="4327064" y="1215476"/>
            <a:ext cx="786110" cy="3928024"/>
          </a:xfrm>
          <a:prstGeom prst="ellipse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 rot="-900000">
            <a:off x="4327064" y="1428750"/>
            <a:ext cx="571500" cy="3714750"/>
          </a:xfrm>
          <a:prstGeom prst="roundRect">
            <a:avLst>
              <a:gd name="adj" fmla="val 160000"/>
            </a:avLst>
          </a:prstGeom>
          <a:gradFill rotWithShape="1">
            <a:gsLst>
              <a:gs pos="0">
                <a:srgbClr val="FFFFFF">
                  <a:alpha val="11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27064" y="857250"/>
            <a:ext cx="928241" cy="4286250"/>
          </a:xfrm>
          <a:prstGeom prst="roundRect">
            <a:avLst>
              <a:gd name="adj" fmla="val 98509"/>
            </a:avLst>
          </a:prstGeom>
          <a:gradFill rotWithShape="1">
            <a:gsLst>
              <a:gs pos="0">
                <a:srgbClr val="FFFFFF">
                  <a:alpha val="12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 rot="900000">
            <a:off x="4327064" y="1428750"/>
            <a:ext cx="571500" cy="3714750"/>
          </a:xfrm>
          <a:prstGeom prst="roundRect">
            <a:avLst>
              <a:gd name="adj" fmla="val 160000"/>
            </a:avLst>
          </a:prstGeom>
          <a:gradFill rotWithShape="1">
            <a:gsLst>
              <a:gs pos="0">
                <a:srgbClr val="FFFFFF">
                  <a:alpha val="11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 rot="1800000">
            <a:off x="4327064" y="1215476"/>
            <a:ext cx="786110" cy="3928024"/>
          </a:xfrm>
          <a:prstGeom prst="ellipse">
            <a:avLst/>
          </a:prstGeom>
          <a:gradFill rotWithShape="1">
            <a:gsLst>
              <a:gs pos="0">
                <a:srgbClr val="FFFFFF">
                  <a:alpha val="11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 rot="2760000">
            <a:off x="4327064" y="1714500"/>
            <a:ext cx="500360" cy="3429000"/>
          </a:xfrm>
          <a:prstGeom prst="ellipse">
            <a:avLst/>
          </a:prstGeom>
          <a:gradFill rotWithShape="1">
            <a:gsLst>
              <a:gs pos="0">
                <a:srgbClr val="FFFFFF">
                  <a:alpha val="10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 rot="3720000">
            <a:off x="4327064" y="1428750"/>
            <a:ext cx="642491" cy="3714750"/>
          </a:xfrm>
          <a:prstGeom prst="ellipse">
            <a:avLst/>
          </a:prstGeom>
          <a:gradFill rotWithShape="1">
            <a:gsLst>
              <a:gs pos="0">
                <a:srgbClr val="FFFFFF">
                  <a:alpha val="12000"/>
                </a:srgbClr>
              </a:gs>
              <a:gs pos="45000">
                <a:srgbClr val="FFFFFF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 rot="-4680000">
            <a:off x="4327064" y="2000250"/>
            <a:ext cx="429220" cy="3143250"/>
          </a:xfrm>
          <a:prstGeom prst="roundRect">
            <a:avLst>
              <a:gd name="adj" fmla="val 213038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 rot="4680000">
            <a:off x="4327064" y="2000250"/>
            <a:ext cx="429220" cy="3143250"/>
          </a:xfrm>
          <a:prstGeom prst="roundRect">
            <a:avLst>
              <a:gd name="adj" fmla="val 213038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45000">
                <a:srgbClr val="FFFFFF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357015" y="3857030"/>
            <a:ext cx="6429970" cy="1286470"/>
          </a:xfrm>
          <a:prstGeom prst="roundRect">
            <a:avLst>
              <a:gd name="adj" fmla="val 71078"/>
            </a:avLst>
          </a:prstGeom>
          <a:gradFill rotWithShape="1">
            <a:gsLst>
              <a:gs pos="0">
                <a:srgbClr val="F97316">
                  <a:alpha val="60000"/>
                </a:srgbClr>
              </a:gs>
              <a:gs pos="40000">
                <a:srgbClr val="FB923C">
                  <a:alpha val="30000"/>
                </a:srgbClr>
              </a:gs>
              <a:gs pos="7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  <a:effectLst>
            <a:softEdge rad="57150"/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71390" y="4071789"/>
            <a:ext cx="500122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97316">
                  <a:alpha val="55000"/>
                </a:srgbClr>
              </a:gs>
              <a:gs pos="50000">
                <a:srgbClr val="F97316">
                  <a:alpha val="85000"/>
                </a:srgbClr>
              </a:gs>
              <a:gs pos="80000">
                <a:srgbClr val="F97316">
                  <a:alpha val="5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45890" y="4250829"/>
            <a:ext cx="35421" cy="35421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60290" y="4471839"/>
            <a:ext cx="29170" cy="29170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12664" y="4099620"/>
            <a:ext cx="43160" cy="43160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09825" y="4406950"/>
            <a:ext cx="21580" cy="21580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15754" y="4179838"/>
            <a:ext cx="35421" cy="35421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58000" y="4328220"/>
            <a:ext cx="29170" cy="29170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772400" y="4416028"/>
            <a:ext cx="49411" cy="49411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400" y="3971330"/>
            <a:ext cx="29170" cy="29170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12361" y="4071789"/>
            <a:ext cx="35421" cy="35421"/>
          </a:xfrm>
          <a:prstGeom prst="ellipse">
            <a:avLst/>
          </a:prstGeom>
          <a:solidFill>
            <a:srgbClr val="FBBF24">
              <a:alpha val="65000"/>
            </a:srgbClr>
          </a:solidFill>
          <a:ln/>
          <a:effectLst>
            <a:softEdge rad="7620"/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892600" y="1352848"/>
            <a:ext cx="500360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C2410C">
                  <a:alpha val="7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>
            <a:alphaModFix amt="7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849" y="1279178"/>
            <a:ext cx="157460" cy="1574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06104" y="1352848"/>
            <a:ext cx="500360" cy="1012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C2410C">
                  <a:alpha val="7500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67061" y="1647607"/>
            <a:ext cx="5564883" cy="806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Aft>
                <a:spcPts val="2700"/>
              </a:spcAft>
              <a:buNone/>
            </a:pPr>
            <a:r>
              <a:rPr lang="en-US" sz="2800" b="1" i="0">
                <a:solidFill>
                  <a:srgbClr val="FFF5EB"/>
                </a:solidFill>
                <a:effectLst/>
                <a:latin typeface="Constantia" panose="02030602050306030303" pitchFamily="18" charset="0"/>
              </a:rPr>
              <a:t>Pick your path.</a:t>
            </a:r>
            <a:endParaRPr lang="en-US" sz="2800" b="1" i="0" dirty="0">
              <a:solidFill>
                <a:srgbClr val="FFF5EB"/>
              </a:solidFill>
              <a:effectLst/>
              <a:latin typeface="Constantia" panose="02030602050306030303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806029" y="2998440"/>
            <a:ext cx="1322826" cy="321022"/>
          </a:xfrm>
          <a:prstGeom prst="roundRect">
            <a:avLst>
              <a:gd name="adj" fmla="val 2222941"/>
            </a:avLst>
          </a:prstGeom>
          <a:noFill/>
          <a:ln w="9525">
            <a:solidFill>
              <a:srgbClr val="C2410C"/>
            </a:solidFill>
          </a:ln>
        </p:spPr>
        <p:txBody>
          <a:bodyPr wrap="none" lIns="173736" tIns="71120" rIns="171450" bIns="7112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7C2D1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PARTNERSHIP</a:t>
            </a:r>
            <a:endParaRPr lang="en-US" sz="840" dirty="0"/>
          </a:p>
        </p:txBody>
      </p:sp>
      <p:sp>
        <p:nvSpPr>
          <p:cNvPr id="35" name="Text 31"/>
          <p:cNvSpPr/>
          <p:nvPr/>
        </p:nvSpPr>
        <p:spPr>
          <a:xfrm>
            <a:off x="3217218" y="2998440"/>
            <a:ext cx="1402827" cy="321022"/>
          </a:xfrm>
          <a:prstGeom prst="roundRect">
            <a:avLst>
              <a:gd name="adj" fmla="val 2222941"/>
            </a:avLst>
          </a:prstGeom>
          <a:noFill/>
          <a:ln w="9525">
            <a:solidFill>
              <a:srgbClr val="C2410C"/>
            </a:solidFill>
          </a:ln>
        </p:spPr>
        <p:txBody>
          <a:bodyPr wrap="none" lIns="173736" tIns="71120" rIns="171450" bIns="7112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7C2D1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AMPLIFICATION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4706838" y="2998440"/>
            <a:ext cx="1505447" cy="321022"/>
          </a:xfrm>
          <a:prstGeom prst="roundRect">
            <a:avLst>
              <a:gd name="adj" fmla="val 2222941"/>
            </a:avLst>
          </a:prstGeom>
          <a:noFill/>
          <a:ln w="9525">
            <a:solidFill>
              <a:srgbClr val="C2410C"/>
            </a:solidFill>
          </a:ln>
        </p:spPr>
        <p:txBody>
          <a:bodyPr wrap="none" lIns="173736" tIns="71120" rIns="171450" bIns="7112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7C2D1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COLLABORATION</a:t>
            </a:r>
            <a:endParaRPr lang="en-US" sz="840" dirty="0"/>
          </a:p>
        </p:txBody>
      </p:sp>
      <p:sp>
        <p:nvSpPr>
          <p:cNvPr id="39" name="Text 33"/>
          <p:cNvSpPr/>
          <p:nvPr/>
        </p:nvSpPr>
        <p:spPr>
          <a:xfrm>
            <a:off x="6297067" y="2998440"/>
            <a:ext cx="1061722" cy="321022"/>
          </a:xfrm>
          <a:prstGeom prst="roundRect">
            <a:avLst>
              <a:gd name="adj" fmla="val 2222941"/>
            </a:avLst>
          </a:prstGeom>
          <a:noFill/>
          <a:ln w="9525">
            <a:solidFill>
              <a:srgbClr val="C2410C"/>
            </a:solidFill>
          </a:ln>
        </p:spPr>
        <p:txBody>
          <a:bodyPr wrap="none" lIns="173736" tIns="71120" rIns="171450" bIns="71120" rtlCol="0" anchor="ctr"/>
          <a:lstStyle/>
          <a:p>
            <a:pPr marL="0" indent="0" algn="ctr">
              <a:buNone/>
            </a:pPr>
            <a:r>
              <a:rPr lang="en-US" sz="840" b="1" kern="0" spc="30" dirty="0">
                <a:solidFill>
                  <a:srgbClr val="7C2D1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SUPPORT</a:t>
            </a:r>
            <a:endParaRPr lang="en-US" sz="840" dirty="0"/>
          </a:p>
        </p:txBody>
      </p:sp>
      <p:sp>
        <p:nvSpPr>
          <p:cNvPr id="41" name="Text 34"/>
          <p:cNvSpPr/>
          <p:nvPr/>
        </p:nvSpPr>
        <p:spPr>
          <a:xfrm>
            <a:off x="2624841" y="3865158"/>
            <a:ext cx="49411" cy="49411"/>
          </a:xfrm>
          <a:prstGeom prst="ellipse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2780263" y="3648799"/>
            <a:ext cx="34509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b="0" i="1" dirty="0">
                <a:solidFill>
                  <a:srgbClr val="FDE68A"/>
                </a:solidFill>
                <a:effectLst/>
                <a:latin typeface="Constantia" panose="02030602050306030303" pitchFamily="18" charset="0"/>
              </a:rPr>
              <a:t>Light the way.</a:t>
            </a:r>
            <a:r>
              <a:rPr lang="en-US" b="0" i="1" dirty="0">
                <a:solidFill>
                  <a:srgbClr val="FFF5EB"/>
                </a:solidFill>
                <a:effectLst/>
                <a:latin typeface="Constantia" panose="02030602050306030303" pitchFamily="18" charset="0"/>
              </a:rPr>
              <a:t>  </a:t>
            </a:r>
            <a:r>
              <a:rPr lang="en-US" b="0" i="1" dirty="0">
                <a:solidFill>
                  <a:srgbClr val="B34B05"/>
                </a:solidFill>
                <a:effectLst/>
                <a:latin typeface="Constantia" panose="02030602050306030303" pitchFamily="18" charset="0"/>
              </a:rPr>
              <a:t>Build what's yours.</a:t>
            </a:r>
            <a:endParaRPr lang="en-US" sz="1800" dirty="0">
              <a:solidFill>
                <a:srgbClr val="B34B05"/>
              </a:solidFill>
            </a:endParaRPr>
          </a:p>
        </p:txBody>
      </p:sp>
      <p:sp>
        <p:nvSpPr>
          <p:cNvPr id="43" name="Text 36"/>
          <p:cNvSpPr/>
          <p:nvPr/>
        </p:nvSpPr>
        <p:spPr>
          <a:xfrm>
            <a:off x="6291899" y="3862197"/>
            <a:ext cx="49411" cy="49411"/>
          </a:xfrm>
          <a:prstGeom prst="ellipse">
            <a:avLst/>
          </a:prstGeom>
          <a:solidFill>
            <a:srgbClr val="F9731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722C7D6B-C61E-D897-0D06-F7E797602C47}"/>
              </a:ext>
            </a:extLst>
          </p:cNvPr>
          <p:cNvSpPr/>
          <p:nvPr/>
        </p:nvSpPr>
        <p:spPr>
          <a:xfrm>
            <a:off x="3810232" y="957181"/>
            <a:ext cx="1370409" cy="237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30"/>
              </a:lnSpc>
              <a:buNone/>
            </a:pPr>
            <a:r>
              <a:rPr lang="en-US" sz="900" b="1" kern="0" spc="300" dirty="0">
                <a:solidFill>
                  <a:srgbClr val="5D2703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THE ASK</a:t>
            </a:r>
            <a:endParaRPr lang="en-US" sz="900" b="1" spc="300" dirty="0">
              <a:solidFill>
                <a:srgbClr val="5D270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469</Words>
  <Application>Microsoft Office PowerPoint</Application>
  <PresentationFormat>On-screen Show (16:9)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Constantia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Abigail Montalvo</cp:lastModifiedBy>
  <cp:revision>7</cp:revision>
  <dcterms:created xsi:type="dcterms:W3CDTF">2026-05-13T22:07:13Z</dcterms:created>
  <dcterms:modified xsi:type="dcterms:W3CDTF">2026-05-14T16:05:51Z</dcterms:modified>
</cp:coreProperties>
</file>